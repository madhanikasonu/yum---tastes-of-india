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6858000" cy="9906000" type="A4"/>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946C5E-BC41-2CD8-0C50-2F77DE8F755B}" name="Admin" initials="A" userId="Adm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7" autoAdjust="0"/>
    <p:restoredTop sz="95097" autoAdjust="0"/>
  </p:normalViewPr>
  <p:slideViewPr>
    <p:cSldViewPr snapToGrid="0">
      <p:cViewPr varScale="1">
        <p:scale>
          <a:sx n="56" d="100"/>
          <a:sy n="56" d="100"/>
        </p:scale>
        <p:origin x="157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BF9243F-A9E5-47EF-9475-75CAEA9005C8}" type="datetimeFigureOut">
              <a:rPr lang="en-US" smtClean="0"/>
              <a:t>10/13/2025</a:t>
            </a:fld>
            <a:endParaRPr lang="en-US"/>
          </a:p>
        </p:txBody>
      </p:sp>
      <p:sp>
        <p:nvSpPr>
          <p:cNvPr id="4" name="Slide Image Placeholder 3"/>
          <p:cNvSpPr>
            <a:spLocks noGrp="1" noRot="1" noChangeAspect="1"/>
          </p:cNvSpPr>
          <p:nvPr>
            <p:ph type="sldImg" idx="2"/>
          </p:nvPr>
        </p:nvSpPr>
        <p:spPr>
          <a:xfrm>
            <a:off x="3770313" y="857250"/>
            <a:ext cx="160337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E2D4D6E5-3B39-4DB6-ABF3-030EF53C3472}" type="slidenum">
              <a:rPr lang="en-US" smtClean="0"/>
              <a:t>‹#›</a:t>
            </a:fld>
            <a:endParaRPr lang="en-US"/>
          </a:p>
        </p:txBody>
      </p:sp>
    </p:spTree>
    <p:extLst>
      <p:ext uri="{BB962C8B-B14F-4D97-AF65-F5344CB8AC3E}">
        <p14:creationId xmlns:p14="http://schemas.microsoft.com/office/powerpoint/2010/main" val="2636908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D4D6E5-3B39-4DB6-ABF3-030EF53C3472}" type="slidenum">
              <a:rPr lang="en-US" smtClean="0"/>
              <a:t>6</a:t>
            </a:fld>
            <a:endParaRPr lang="en-US"/>
          </a:p>
        </p:txBody>
      </p:sp>
    </p:spTree>
    <p:extLst>
      <p:ext uri="{BB962C8B-B14F-4D97-AF65-F5344CB8AC3E}">
        <p14:creationId xmlns:p14="http://schemas.microsoft.com/office/powerpoint/2010/main" val="1023364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5A4430-B7E7-401F-A52C-F8BB736C84D8}"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2334864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5A4430-B7E7-401F-A52C-F8BB736C84D8}"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4074805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5A4430-B7E7-401F-A52C-F8BB736C84D8}"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3676553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5A4430-B7E7-401F-A52C-F8BB736C84D8}"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335696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5A4430-B7E7-401F-A52C-F8BB736C84D8}" type="datetimeFigureOut">
              <a:rPr lang="en-US" smtClean="0"/>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349779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5A4430-B7E7-401F-A52C-F8BB736C84D8}" type="datetimeFigureOut">
              <a:rPr lang="en-US" smtClean="0"/>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2655870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5A4430-B7E7-401F-A52C-F8BB736C84D8}" type="datetimeFigureOut">
              <a:rPr lang="en-US" smtClean="0"/>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3017390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D5A4430-B7E7-401F-A52C-F8BB736C84D8}"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431220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D5A4430-B7E7-401F-A52C-F8BB736C84D8}" type="datetimeFigureOut">
              <a:rPr lang="en-US" smtClean="0"/>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3895758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5A4430-B7E7-401F-A52C-F8BB736C84D8}"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1871613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5A4430-B7E7-401F-A52C-F8BB736C84D8}" type="datetimeFigureOut">
              <a:rPr lang="en-US" smtClean="0"/>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A663B0-219E-4771-B405-D4ED47E293DF}" type="slidenum">
              <a:rPr lang="en-US" smtClean="0"/>
              <a:t>‹#›</a:t>
            </a:fld>
            <a:endParaRPr lang="en-US"/>
          </a:p>
        </p:txBody>
      </p:sp>
    </p:spTree>
    <p:extLst>
      <p:ext uri="{BB962C8B-B14F-4D97-AF65-F5344CB8AC3E}">
        <p14:creationId xmlns:p14="http://schemas.microsoft.com/office/powerpoint/2010/main" val="1867156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D5A4430-B7E7-401F-A52C-F8BB736C84D8}" type="datetimeFigureOut">
              <a:rPr lang="en-US" smtClean="0"/>
              <a:t>10/13/2025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AAA663B0-219E-4771-B405-D4ED47E293DF}" type="slidenum">
              <a:rPr lang="en-US" smtClean="0"/>
              <a:t>‹#›</a:t>
            </a:fld>
            <a:endParaRPr lang="en-US"/>
          </a:p>
        </p:txBody>
      </p:sp>
    </p:spTree>
    <p:extLst>
      <p:ext uri="{BB962C8B-B14F-4D97-AF65-F5344CB8AC3E}">
        <p14:creationId xmlns:p14="http://schemas.microsoft.com/office/powerpoint/2010/main" val="21089708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linkedin.com/in/madhanika-sonu-1b881237b?utm_source=share&amp;utm_campaign=share_via&amp;utm_content=profile&amp;utm_medium=android_app" TargetMode="External"/><Relationship Id="rId2" Type="http://schemas.openxmlformats.org/officeDocument/2006/relationships/hyperlink" Target="mailto:madhanikasonu@gmail.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167A1-3CC9-0065-6AA7-A9D0962EAEEB}"/>
              </a:ext>
            </a:extLst>
          </p:cNvPr>
          <p:cNvSpPr>
            <a:spLocks noGrp="1"/>
          </p:cNvSpPr>
          <p:nvPr>
            <p:ph type="ctrTitle"/>
          </p:nvPr>
        </p:nvSpPr>
        <p:spPr>
          <a:xfrm>
            <a:off x="171450" y="2555630"/>
            <a:ext cx="6030058" cy="2391655"/>
          </a:xfrm>
        </p:spPr>
        <p:txBody>
          <a:bodyPr>
            <a:normAutofit/>
          </a:bodyPr>
          <a:lstStyle/>
          <a:p>
            <a:r>
              <a:rPr lang="en-US" sz="6000" b="1" dirty="0">
                <a:highlight>
                  <a:srgbClr val="FFFF00"/>
                </a:highlight>
              </a:rPr>
              <a:t>TASTES OF INDIA</a:t>
            </a:r>
          </a:p>
        </p:txBody>
      </p:sp>
      <p:sp>
        <p:nvSpPr>
          <p:cNvPr id="3" name="Subtitle 2">
            <a:extLst>
              <a:ext uri="{FF2B5EF4-FFF2-40B4-BE49-F238E27FC236}">
                <a16:creationId xmlns:a16="http://schemas.microsoft.com/office/drawing/2014/main" id="{F17FD297-E8D3-6031-9875-290D122E17F2}"/>
              </a:ext>
            </a:extLst>
          </p:cNvPr>
          <p:cNvSpPr>
            <a:spLocks noGrp="1"/>
          </p:cNvSpPr>
          <p:nvPr>
            <p:ph type="subTitle" idx="1"/>
          </p:nvPr>
        </p:nvSpPr>
        <p:spPr>
          <a:xfrm>
            <a:off x="857250" y="5202945"/>
            <a:ext cx="4136781" cy="939948"/>
          </a:xfrm>
        </p:spPr>
        <p:txBody>
          <a:bodyPr>
            <a:normAutofit fontScale="92500" lnSpcReduction="10000"/>
          </a:bodyPr>
          <a:lstStyle/>
          <a:p>
            <a:r>
              <a:rPr lang="en-US" sz="3500" dirty="0">
                <a:highlight>
                  <a:srgbClr val="008080"/>
                </a:highlight>
              </a:rPr>
              <a:t>HERITAGE OF INDIAN FOODS</a:t>
            </a:r>
          </a:p>
        </p:txBody>
      </p:sp>
    </p:spTree>
    <p:extLst>
      <p:ext uri="{BB962C8B-B14F-4D97-AF65-F5344CB8AC3E}">
        <p14:creationId xmlns:p14="http://schemas.microsoft.com/office/powerpoint/2010/main" val="153800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F1AAE-28C0-E3DE-18A8-21CB80FB8366}"/>
              </a:ext>
            </a:extLst>
          </p:cNvPr>
          <p:cNvSpPr>
            <a:spLocks noGrp="1"/>
          </p:cNvSpPr>
          <p:nvPr>
            <p:ph type="title"/>
          </p:nvPr>
        </p:nvSpPr>
        <p:spPr>
          <a:xfrm>
            <a:off x="471488" y="527405"/>
            <a:ext cx="5043941" cy="894995"/>
          </a:xfrm>
        </p:spPr>
        <p:txBody>
          <a:bodyPr>
            <a:normAutofit fontScale="90000"/>
          </a:bodyPr>
          <a:lstStyle/>
          <a:p>
            <a:r>
              <a:rPr lang="en-US" sz="6000" b="1" dirty="0"/>
              <a:t>PROBLEM STATEMENT</a:t>
            </a:r>
            <a:r>
              <a:rPr lang="en-US" dirty="0"/>
              <a:t>:</a:t>
            </a:r>
          </a:p>
        </p:txBody>
      </p:sp>
      <p:sp>
        <p:nvSpPr>
          <p:cNvPr id="3" name="Content Placeholder 2">
            <a:extLst>
              <a:ext uri="{FF2B5EF4-FFF2-40B4-BE49-F238E27FC236}">
                <a16:creationId xmlns:a16="http://schemas.microsoft.com/office/drawing/2014/main" id="{39522945-87B6-E6D2-3F0A-DDDA2EB6816B}"/>
              </a:ext>
            </a:extLst>
          </p:cNvPr>
          <p:cNvSpPr>
            <a:spLocks noGrp="1"/>
          </p:cNvSpPr>
          <p:nvPr>
            <p:ph idx="1"/>
          </p:nvPr>
        </p:nvSpPr>
        <p:spPr>
          <a:xfrm>
            <a:off x="101600" y="1810366"/>
            <a:ext cx="6756400" cy="8095634"/>
          </a:xfrm>
        </p:spPr>
        <p:txBody>
          <a:bodyPr>
            <a:normAutofit/>
          </a:bodyPr>
          <a:lstStyle/>
          <a:p>
            <a:pPr marL="0" indent="0">
              <a:buNone/>
            </a:pPr>
            <a:r>
              <a:rPr lang="en-US" sz="2300" i="1" dirty="0"/>
              <a:t>"Traditional Indian foods and recipes are slowly being forgotten in the digital era. There is a lack of an engaging platform that preserves and promotes the heritage, cultural significance, and regional diversity of India's traditional cuisines.“</a:t>
            </a:r>
          </a:p>
          <a:p>
            <a:pPr marL="0" indent="0">
              <a:buNone/>
            </a:pPr>
            <a:endParaRPr lang="en-US" sz="2500" b="1" dirty="0">
              <a:highlight>
                <a:srgbClr val="00FF00"/>
              </a:highlight>
            </a:endParaRPr>
          </a:p>
          <a:p>
            <a:pPr marL="0" indent="0">
              <a:buNone/>
            </a:pPr>
            <a:r>
              <a:rPr lang="en-US" sz="2500" b="1" dirty="0">
                <a:highlight>
                  <a:srgbClr val="00FF00"/>
                </a:highlight>
              </a:rPr>
              <a:t>WHO IS FACING THIS ISSUE?</a:t>
            </a:r>
          </a:p>
          <a:p>
            <a:r>
              <a:rPr lang="en-US" sz="2300" i="1" dirty="0"/>
              <a:t>Young generation unaware of traditional cuisines</a:t>
            </a:r>
          </a:p>
          <a:p>
            <a:r>
              <a:rPr lang="en-US" sz="2300" i="1" dirty="0"/>
              <a:t>Local chefs and food vendors without online visibility</a:t>
            </a:r>
          </a:p>
          <a:p>
            <a:r>
              <a:rPr lang="en-US" sz="2300" i="1" dirty="0"/>
              <a:t>Tourists seeking authentic Indian food experiences</a:t>
            </a:r>
          </a:p>
          <a:p>
            <a:r>
              <a:rPr lang="en-US" sz="2300" i="1" dirty="0"/>
              <a:t>Cultural educators and heritage enthusiasts</a:t>
            </a:r>
          </a:p>
          <a:p>
            <a:pPr marL="0" indent="0">
              <a:buNone/>
            </a:pPr>
            <a:endParaRPr lang="en-US" sz="2500" b="1" dirty="0">
              <a:highlight>
                <a:srgbClr val="00FF00"/>
              </a:highlight>
            </a:endParaRPr>
          </a:p>
          <a:p>
            <a:pPr marL="0" indent="0">
              <a:buNone/>
            </a:pPr>
            <a:r>
              <a:rPr lang="en-US" sz="2500" b="1" dirty="0">
                <a:highlight>
                  <a:srgbClr val="00FF00"/>
                </a:highlight>
              </a:rPr>
              <a:t>WHY IT IS IMPORTANT TO SOLVE IT NOW?</a:t>
            </a:r>
          </a:p>
          <a:p>
            <a:r>
              <a:rPr lang="en-US" sz="2300" i="1" dirty="0"/>
              <a:t>Heritage recipes are disappearing with modernization.</a:t>
            </a:r>
          </a:p>
          <a:p>
            <a:r>
              <a:rPr lang="en-US" sz="2300" i="1" dirty="0"/>
              <a:t>Youth are disconnected from cultural roots.</a:t>
            </a:r>
          </a:p>
          <a:p>
            <a:r>
              <a:rPr lang="en-US" sz="2300" i="1" dirty="0"/>
              <a:t>Lack of digital documentation of traditional foods.</a:t>
            </a:r>
          </a:p>
          <a:p>
            <a:r>
              <a:rPr lang="en-US" sz="2300" i="1" dirty="0"/>
              <a:t>Growing global interest in Indian cuisine.</a:t>
            </a:r>
          </a:p>
          <a:p>
            <a:r>
              <a:rPr lang="en-US" sz="2300" i="1" dirty="0"/>
              <a:t>Need to preserve and promote India’s food heritage before it’s lost.</a:t>
            </a:r>
            <a:endParaRPr lang="en-US" sz="2300" i="1" dirty="0">
              <a:highlight>
                <a:srgbClr val="00FF00"/>
              </a:highlight>
            </a:endParaRPr>
          </a:p>
        </p:txBody>
      </p:sp>
    </p:spTree>
    <p:extLst>
      <p:ext uri="{BB962C8B-B14F-4D97-AF65-F5344CB8AC3E}">
        <p14:creationId xmlns:p14="http://schemas.microsoft.com/office/powerpoint/2010/main" val="3884324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4DB2C-2D31-165A-525A-B4C17BF972D1}"/>
              </a:ext>
            </a:extLst>
          </p:cNvPr>
          <p:cNvSpPr>
            <a:spLocks noGrp="1"/>
          </p:cNvSpPr>
          <p:nvPr>
            <p:ph type="title"/>
          </p:nvPr>
        </p:nvSpPr>
        <p:spPr>
          <a:xfrm>
            <a:off x="1" y="0"/>
            <a:ext cx="3164114" cy="1538514"/>
          </a:xfrm>
        </p:spPr>
        <p:txBody>
          <a:bodyPr>
            <a:normAutofit fontScale="90000"/>
          </a:bodyPr>
          <a:lstStyle/>
          <a:p>
            <a:r>
              <a:rPr lang="en-US" sz="5500" b="1" dirty="0"/>
              <a:t>SOLUTION</a:t>
            </a:r>
            <a:r>
              <a:rPr lang="en-US" sz="5500" dirty="0"/>
              <a:t> </a:t>
            </a:r>
            <a:r>
              <a:rPr lang="en-US" sz="5500" b="1" dirty="0"/>
              <a:t>OVERVIEW</a:t>
            </a:r>
            <a:r>
              <a:rPr lang="en-US" dirty="0"/>
              <a:t>:</a:t>
            </a:r>
          </a:p>
        </p:txBody>
      </p:sp>
      <p:sp>
        <p:nvSpPr>
          <p:cNvPr id="3" name="Content Placeholder 2">
            <a:extLst>
              <a:ext uri="{FF2B5EF4-FFF2-40B4-BE49-F238E27FC236}">
                <a16:creationId xmlns:a16="http://schemas.microsoft.com/office/drawing/2014/main" id="{894C8E6C-0AC6-E9EE-24F2-EB6458B93F83}"/>
              </a:ext>
            </a:extLst>
          </p:cNvPr>
          <p:cNvSpPr>
            <a:spLocks noGrp="1"/>
          </p:cNvSpPr>
          <p:nvPr>
            <p:ph idx="1"/>
          </p:nvPr>
        </p:nvSpPr>
        <p:spPr>
          <a:xfrm>
            <a:off x="0" y="1538514"/>
            <a:ext cx="6857999" cy="8367486"/>
          </a:xfrm>
        </p:spPr>
        <p:txBody>
          <a:bodyPr>
            <a:normAutofit fontScale="92500" lnSpcReduction="10000"/>
          </a:bodyPr>
          <a:lstStyle/>
          <a:p>
            <a:pPr marL="0" indent="0">
              <a:buNone/>
            </a:pPr>
            <a:r>
              <a:rPr lang="en-US" sz="2500" b="1" dirty="0">
                <a:highlight>
                  <a:srgbClr val="00FF00"/>
                </a:highlight>
              </a:rPr>
              <a:t>WHAT</a:t>
            </a:r>
            <a:r>
              <a:rPr lang="en-US" sz="2500" dirty="0">
                <a:highlight>
                  <a:srgbClr val="00FF00"/>
                </a:highlight>
              </a:rPr>
              <a:t> </a:t>
            </a:r>
            <a:r>
              <a:rPr lang="en-US" sz="2500" b="1" dirty="0">
                <a:highlight>
                  <a:srgbClr val="00FF00"/>
                </a:highlight>
              </a:rPr>
              <a:t>DOES</a:t>
            </a:r>
            <a:r>
              <a:rPr lang="en-US" sz="2500" dirty="0">
                <a:highlight>
                  <a:srgbClr val="00FF00"/>
                </a:highlight>
              </a:rPr>
              <a:t> </a:t>
            </a:r>
            <a:r>
              <a:rPr lang="en-US" sz="2500" b="1" dirty="0">
                <a:highlight>
                  <a:srgbClr val="00FF00"/>
                </a:highlight>
              </a:rPr>
              <a:t>OUR</a:t>
            </a:r>
            <a:r>
              <a:rPr lang="en-US" sz="2500" dirty="0">
                <a:highlight>
                  <a:srgbClr val="00FF00"/>
                </a:highlight>
              </a:rPr>
              <a:t> </a:t>
            </a:r>
            <a:r>
              <a:rPr lang="en-US" sz="2500" b="1" dirty="0">
                <a:highlight>
                  <a:srgbClr val="00FF00"/>
                </a:highlight>
              </a:rPr>
              <a:t>IDEA</a:t>
            </a:r>
            <a:r>
              <a:rPr lang="en-US" sz="2500" dirty="0">
                <a:highlight>
                  <a:srgbClr val="00FF00"/>
                </a:highlight>
              </a:rPr>
              <a:t> </a:t>
            </a:r>
            <a:r>
              <a:rPr lang="en-US" sz="2500" b="1" dirty="0">
                <a:highlight>
                  <a:srgbClr val="00FF00"/>
                </a:highlight>
              </a:rPr>
              <a:t>DO</a:t>
            </a:r>
            <a:r>
              <a:rPr lang="en-US" b="1" dirty="0">
                <a:highlight>
                  <a:srgbClr val="00FF00"/>
                </a:highlight>
              </a:rPr>
              <a:t>?</a:t>
            </a:r>
          </a:p>
          <a:p>
            <a:pPr marL="0" indent="0">
              <a:buNone/>
            </a:pPr>
            <a:r>
              <a:rPr lang="en-US" sz="2900" i="1" dirty="0"/>
              <a:t>"Tasters of India" is a digital platform that preserves and promotes India's traditional cuisines. It connects users to heritage foods through an interactive map, authentic recipes, local vendor stories, and cultural insights helping people rediscover India's food heritage in the digital age.</a:t>
            </a:r>
          </a:p>
          <a:p>
            <a:pPr marL="0" indent="0">
              <a:buNone/>
            </a:pPr>
            <a:r>
              <a:rPr lang="en-US" sz="2500" b="1" dirty="0">
                <a:highlight>
                  <a:srgbClr val="00FF00"/>
                </a:highlight>
              </a:rPr>
              <a:t>KEY FEATURES OR TECHNOLOGY INVOLVED:-</a:t>
            </a:r>
          </a:p>
          <a:p>
            <a:pPr marL="0" indent="0">
              <a:buNone/>
            </a:pPr>
            <a:r>
              <a:rPr lang="en-US" sz="2500" b="1" dirty="0"/>
              <a:t>                                     </a:t>
            </a:r>
            <a:r>
              <a:rPr lang="en-US" sz="2700" i="1" u="sng" dirty="0"/>
              <a:t>KEY FEATURES:</a:t>
            </a:r>
          </a:p>
          <a:p>
            <a:r>
              <a:rPr lang="en-US" sz="2700" i="1" dirty="0"/>
              <a:t>Interactive map showing each state's traditional foods</a:t>
            </a:r>
          </a:p>
          <a:p>
            <a:r>
              <a:rPr lang="en-US" sz="2700" i="1" dirty="0"/>
              <a:t>Digital recipe preservation &amp; uploads</a:t>
            </a:r>
          </a:p>
          <a:p>
            <a:r>
              <a:rPr lang="en-US" sz="2700" i="1" dirty="0"/>
              <a:t>Local chef/vendor promotion</a:t>
            </a:r>
          </a:p>
          <a:p>
            <a:r>
              <a:rPr lang="en-US" sz="2700" i="1" dirty="0"/>
              <a:t>Multilingual cultural food stories</a:t>
            </a:r>
          </a:p>
          <a:p>
            <a:r>
              <a:rPr lang="en-US" sz="2700" i="1" dirty="0"/>
              <a:t>Community sharing &amp; tourism insights</a:t>
            </a:r>
          </a:p>
          <a:p>
            <a:pPr marL="0" indent="0">
              <a:buNone/>
            </a:pPr>
            <a:r>
              <a:rPr lang="en-US" sz="2900" i="1" dirty="0"/>
              <a:t>                            </a:t>
            </a:r>
            <a:r>
              <a:rPr lang="en-US" sz="2900" i="1" u="sng" dirty="0"/>
              <a:t>Technology Involved:</a:t>
            </a:r>
            <a:endParaRPr lang="en-US" sz="2500" b="1" dirty="0"/>
          </a:p>
          <a:p>
            <a:r>
              <a:rPr lang="en-US" sz="2700" i="1" dirty="0"/>
              <a:t>React.js, Node.js, MongoDB</a:t>
            </a:r>
          </a:p>
          <a:p>
            <a:r>
              <a:rPr lang="en-US" sz="2700" i="1" dirty="0"/>
              <a:t>Google Maps API, Firebase</a:t>
            </a:r>
          </a:p>
          <a:p>
            <a:r>
              <a:rPr lang="en-US" sz="2700" i="1" dirty="0"/>
              <a:t>Optional Al for food image recognition</a:t>
            </a:r>
          </a:p>
          <a:p>
            <a:pPr marL="0" indent="0">
              <a:buNone/>
            </a:pPr>
            <a:r>
              <a:rPr lang="en-US" sz="2700" i="1" dirty="0"/>
              <a:t>Clou</a:t>
            </a:r>
            <a:r>
              <a:rPr lang="en-US" sz="2600" i="1" dirty="0"/>
              <a:t>d hosting on AWS/Firebase</a:t>
            </a:r>
            <a:endParaRPr lang="en-US" sz="2600" b="1" dirty="0">
              <a:highlight>
                <a:srgbClr val="00FF00"/>
              </a:highlight>
            </a:endParaRPr>
          </a:p>
          <a:p>
            <a:pPr marL="0" indent="0">
              <a:buNone/>
            </a:pPr>
            <a:endParaRPr lang="en-US" sz="2600" b="1" dirty="0">
              <a:highlight>
                <a:srgbClr val="00FF00"/>
              </a:highlight>
            </a:endParaRPr>
          </a:p>
          <a:p>
            <a:pPr marL="0" indent="0">
              <a:buNone/>
            </a:pPr>
            <a:endParaRPr lang="en-US" sz="3000" b="1" dirty="0">
              <a:highlight>
                <a:srgbClr val="00FF00"/>
              </a:highlight>
            </a:endParaRPr>
          </a:p>
        </p:txBody>
      </p:sp>
      <p:sp>
        <p:nvSpPr>
          <p:cNvPr id="4" name="Star: 5 Points 3">
            <a:extLst>
              <a:ext uri="{FF2B5EF4-FFF2-40B4-BE49-F238E27FC236}">
                <a16:creationId xmlns:a16="http://schemas.microsoft.com/office/drawing/2014/main" id="{4B99DF2A-0BBD-6E60-9028-0B924E3F90B9}"/>
              </a:ext>
            </a:extLst>
          </p:cNvPr>
          <p:cNvSpPr/>
          <p:nvPr/>
        </p:nvSpPr>
        <p:spPr>
          <a:xfrm flipH="1">
            <a:off x="2569027" y="4180113"/>
            <a:ext cx="203202" cy="362858"/>
          </a:xfrm>
          <a:prstGeom prst="star5">
            <a:avLst>
              <a:gd name="adj" fmla="val 0"/>
              <a:gd name="hf" fmla="val 105146"/>
              <a:gd name="vf" fmla="val 11055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tar: 5 Points 4">
            <a:extLst>
              <a:ext uri="{FF2B5EF4-FFF2-40B4-BE49-F238E27FC236}">
                <a16:creationId xmlns:a16="http://schemas.microsoft.com/office/drawing/2014/main" id="{BF300BD7-BD18-3131-530D-EA8CAA0B4F60}"/>
              </a:ext>
            </a:extLst>
          </p:cNvPr>
          <p:cNvSpPr/>
          <p:nvPr/>
        </p:nvSpPr>
        <p:spPr>
          <a:xfrm flipH="1" flipV="1">
            <a:off x="1981199" y="7451271"/>
            <a:ext cx="246742" cy="39188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tar: 5 Points 5">
            <a:extLst>
              <a:ext uri="{FF2B5EF4-FFF2-40B4-BE49-F238E27FC236}">
                <a16:creationId xmlns:a16="http://schemas.microsoft.com/office/drawing/2014/main" id="{18022C90-840F-338C-007E-BBA921EB69A2}"/>
              </a:ext>
            </a:extLst>
          </p:cNvPr>
          <p:cNvSpPr/>
          <p:nvPr/>
        </p:nvSpPr>
        <p:spPr>
          <a:xfrm>
            <a:off x="2227941" y="4622799"/>
            <a:ext cx="246742" cy="330201"/>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5902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406E2-E9CC-344A-5CD7-75B781DB67D4}"/>
              </a:ext>
            </a:extLst>
          </p:cNvPr>
          <p:cNvSpPr>
            <a:spLocks noGrp="1"/>
          </p:cNvSpPr>
          <p:nvPr>
            <p:ph type="title"/>
          </p:nvPr>
        </p:nvSpPr>
        <p:spPr>
          <a:xfrm>
            <a:off x="471488" y="-464458"/>
            <a:ext cx="5915025" cy="464457"/>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832B717A-5DB3-8EDC-373A-BADECA99B133}"/>
              </a:ext>
            </a:extLst>
          </p:cNvPr>
          <p:cNvSpPr>
            <a:spLocks noGrp="1"/>
          </p:cNvSpPr>
          <p:nvPr>
            <p:ph idx="1"/>
          </p:nvPr>
        </p:nvSpPr>
        <p:spPr>
          <a:xfrm>
            <a:off x="0" y="-1"/>
            <a:ext cx="6858000" cy="10189030"/>
          </a:xfrm>
          <a:blipFill>
            <a:blip r:embed="rId2"/>
            <a:tile tx="0" ty="0" sx="100000" sy="100000" flip="none" algn="tl"/>
          </a:blipFill>
        </p:spPr>
        <p:txBody>
          <a:bodyPr>
            <a:normAutofit/>
          </a:bodyPr>
          <a:lstStyle/>
          <a:p>
            <a:pPr marL="0" indent="0">
              <a:buNone/>
            </a:pPr>
            <a:r>
              <a:rPr lang="en-US" sz="3500" b="1" dirty="0">
                <a:highlight>
                  <a:srgbClr val="00FF00"/>
                </a:highlight>
              </a:rPr>
              <a:t>WHY OUR TEAM PROJECT IS UNIQUE AND INNOVATIVE:-</a:t>
            </a:r>
            <a:endParaRPr lang="en-US" sz="3500" i="1" dirty="0"/>
          </a:p>
          <a:p>
            <a:r>
              <a:rPr lang="en-US" sz="3000" i="1" dirty="0"/>
              <a:t>First platform to combine heritage, culture, and technology through food.</a:t>
            </a:r>
          </a:p>
          <a:p>
            <a:r>
              <a:rPr lang="en-US" sz="3000" i="1" dirty="0"/>
              <a:t>Interactive India map to explore traditional dishes state-wise.</a:t>
            </a:r>
          </a:p>
          <a:p>
            <a:r>
              <a:rPr lang="en-US" sz="3000" i="1" dirty="0"/>
              <a:t>Encourages digital preservation of family recipes and local vendors.</a:t>
            </a:r>
          </a:p>
          <a:p>
            <a:r>
              <a:rPr lang="en-US" sz="3000" i="1" dirty="0"/>
              <a:t>Uses Al, cloud, and multilingual tech to connect generations.</a:t>
            </a:r>
          </a:p>
          <a:p>
            <a:r>
              <a:rPr lang="en-US" sz="3000" i="1" dirty="0"/>
              <a:t>Promotes Indian food heritage globally in an engaging, visual way.</a:t>
            </a:r>
          </a:p>
          <a:p>
            <a:pPr marL="0" indent="0">
              <a:buNone/>
            </a:pPr>
            <a:endParaRPr lang="en-US" sz="2400" i="1" dirty="0">
              <a:highlight>
                <a:srgbClr val="00FF00"/>
              </a:highlight>
            </a:endParaRPr>
          </a:p>
        </p:txBody>
      </p:sp>
      <p:pic>
        <p:nvPicPr>
          <p:cNvPr id="5" name="Picture 4">
            <a:extLst>
              <a:ext uri="{FF2B5EF4-FFF2-40B4-BE49-F238E27FC236}">
                <a16:creationId xmlns:a16="http://schemas.microsoft.com/office/drawing/2014/main" id="{615B7D0C-C0DA-EAA4-037F-0DF6BA4C73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487" y="6037943"/>
            <a:ext cx="5915025" cy="3352800"/>
          </a:xfrm>
          <a:prstGeom prst="rect">
            <a:avLst/>
          </a:prstGeom>
        </p:spPr>
      </p:pic>
    </p:spTree>
    <p:extLst>
      <p:ext uri="{BB962C8B-B14F-4D97-AF65-F5344CB8AC3E}">
        <p14:creationId xmlns:p14="http://schemas.microsoft.com/office/powerpoint/2010/main" val="2988014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78F44-84CD-5CE8-8164-7255091118A8}"/>
              </a:ext>
            </a:extLst>
          </p:cNvPr>
          <p:cNvSpPr>
            <a:spLocks noGrp="1"/>
          </p:cNvSpPr>
          <p:nvPr>
            <p:ph type="title"/>
          </p:nvPr>
        </p:nvSpPr>
        <p:spPr>
          <a:xfrm>
            <a:off x="1" y="0"/>
            <a:ext cx="3686628" cy="986971"/>
          </a:xfrm>
        </p:spPr>
        <p:txBody>
          <a:bodyPr>
            <a:normAutofit fontScale="90000"/>
          </a:bodyPr>
          <a:lstStyle/>
          <a:p>
            <a:r>
              <a:rPr lang="en-US" sz="4000" b="1" dirty="0"/>
              <a:t>DESIRABILITY</a:t>
            </a:r>
            <a:br>
              <a:rPr lang="en-US" sz="4000" b="1" dirty="0"/>
            </a:br>
            <a:r>
              <a:rPr lang="en-US" sz="4000" b="1" dirty="0"/>
              <a:t>(USERS NEED):</a:t>
            </a:r>
          </a:p>
        </p:txBody>
      </p:sp>
      <p:sp>
        <p:nvSpPr>
          <p:cNvPr id="3" name="Content Placeholder 2">
            <a:extLst>
              <a:ext uri="{FF2B5EF4-FFF2-40B4-BE49-F238E27FC236}">
                <a16:creationId xmlns:a16="http://schemas.microsoft.com/office/drawing/2014/main" id="{E283E76E-A8A4-2EB1-4D67-ECF27CFAAC33}"/>
              </a:ext>
            </a:extLst>
          </p:cNvPr>
          <p:cNvSpPr>
            <a:spLocks noGrp="1"/>
          </p:cNvSpPr>
          <p:nvPr>
            <p:ph idx="1"/>
          </p:nvPr>
        </p:nvSpPr>
        <p:spPr>
          <a:xfrm>
            <a:off x="0" y="986970"/>
            <a:ext cx="6858000" cy="8919029"/>
          </a:xfrm>
        </p:spPr>
        <p:txBody>
          <a:bodyPr>
            <a:normAutofit lnSpcReduction="10000"/>
          </a:bodyPr>
          <a:lstStyle/>
          <a:p>
            <a:endParaRPr lang="en-US" dirty="0"/>
          </a:p>
          <a:p>
            <a:pPr marL="0" indent="0">
              <a:buNone/>
            </a:pPr>
            <a:r>
              <a:rPr lang="en-US" sz="2500" b="1" dirty="0">
                <a:highlight>
                  <a:srgbClr val="00FF00"/>
                </a:highlight>
              </a:rPr>
              <a:t>WHO ARE OUR TARGET USERS?</a:t>
            </a:r>
          </a:p>
          <a:p>
            <a:r>
              <a:rPr lang="en-US" sz="2500" i="1" dirty="0"/>
              <a:t>Food lovers and travelers</a:t>
            </a:r>
          </a:p>
          <a:p>
            <a:r>
              <a:rPr lang="en-US" sz="2500" i="1" dirty="0"/>
              <a:t>Students and researchers of Indian culture</a:t>
            </a:r>
          </a:p>
          <a:p>
            <a:r>
              <a:rPr lang="en-US" sz="2500" i="1" dirty="0"/>
              <a:t>Local food vendors and artisans</a:t>
            </a:r>
          </a:p>
          <a:p>
            <a:r>
              <a:rPr lang="en-US" sz="2500" i="1" dirty="0"/>
              <a:t>Health-conscious people</a:t>
            </a:r>
          </a:p>
          <a:p>
            <a:r>
              <a:rPr lang="en-US" sz="2500" i="1" dirty="0"/>
              <a:t>Tourists exploring Indian cuisines</a:t>
            </a:r>
            <a:endParaRPr lang="en-US" sz="2500" b="1" i="1" dirty="0">
              <a:highlight>
                <a:srgbClr val="00FF00"/>
              </a:highlight>
            </a:endParaRPr>
          </a:p>
          <a:p>
            <a:pPr marL="0" indent="0">
              <a:buNone/>
            </a:pPr>
            <a:r>
              <a:rPr lang="en-US" sz="2500" b="1" i="1" dirty="0">
                <a:highlight>
                  <a:srgbClr val="00FF00"/>
                </a:highlight>
              </a:rPr>
              <a:t>WHAT MAIN POINT DOES THIS SOLVE?</a:t>
            </a:r>
          </a:p>
          <a:p>
            <a:r>
              <a:rPr lang="en-US" sz="2400" i="1" dirty="0"/>
              <a:t>Loss of traditional food knowledge due to modernization.</a:t>
            </a:r>
          </a:p>
          <a:p>
            <a:r>
              <a:rPr lang="en-US" sz="2400" i="1" dirty="0"/>
              <a:t>Lack of awareness about the cultural value behind regional dishes.</a:t>
            </a:r>
          </a:p>
          <a:p>
            <a:r>
              <a:rPr lang="en-US" sz="2400" i="1" dirty="0"/>
              <a:t>Difficulty in discovering authentic local foods while traveling.</a:t>
            </a:r>
          </a:p>
          <a:p>
            <a:r>
              <a:rPr lang="en-US" sz="2400" i="1" dirty="0"/>
              <a:t>Limited digital platforms that preserve and promote heritage culture.</a:t>
            </a:r>
          </a:p>
          <a:p>
            <a:pPr marL="0" indent="0">
              <a:buNone/>
            </a:pPr>
            <a:r>
              <a:rPr lang="en-US" sz="2500" b="1" i="1" dirty="0">
                <a:highlight>
                  <a:srgbClr val="00FF00"/>
                </a:highlight>
              </a:rPr>
              <a:t>ANY USER TERMINALS OR VALIDATI</a:t>
            </a:r>
            <a:r>
              <a:rPr lang="en-US" sz="2500" b="1" dirty="0">
                <a:highlight>
                  <a:srgbClr val="00FF00"/>
                </a:highlight>
              </a:rPr>
              <a:t>O</a:t>
            </a:r>
            <a:r>
              <a:rPr lang="en-US" sz="2500" b="1" i="1" dirty="0">
                <a:highlight>
                  <a:srgbClr val="00FF00"/>
                </a:highlight>
              </a:rPr>
              <a:t>N</a:t>
            </a:r>
            <a:r>
              <a:rPr lang="en-US" sz="2500" b="1" i="1" dirty="0"/>
              <a:t>:</a:t>
            </a:r>
          </a:p>
          <a:p>
            <a:r>
              <a:rPr lang="en-US" sz="2500" i="1" dirty="0"/>
              <a:t>Users rediscovered forgotten traditional recipes.</a:t>
            </a:r>
          </a:p>
          <a:p>
            <a:r>
              <a:rPr lang="en-US" sz="2500" i="1" dirty="0"/>
              <a:t>Tourists found authentic local foods easily.</a:t>
            </a:r>
          </a:p>
          <a:p>
            <a:r>
              <a:rPr lang="en-US" sz="2500" i="1" dirty="0"/>
              <a:t>Students loved learning culture through food.</a:t>
            </a:r>
          </a:p>
          <a:p>
            <a:r>
              <a:rPr lang="en-US" sz="2500" i="1" dirty="0"/>
              <a:t>Local vendors gained more visibility and customers</a:t>
            </a:r>
            <a:endParaRPr lang="en-US" sz="2500" b="1" i="1" dirty="0">
              <a:highlight>
                <a:srgbClr val="00FF00"/>
              </a:highlight>
            </a:endParaRPr>
          </a:p>
        </p:txBody>
      </p:sp>
    </p:spTree>
    <p:extLst>
      <p:ext uri="{BB962C8B-B14F-4D97-AF65-F5344CB8AC3E}">
        <p14:creationId xmlns:p14="http://schemas.microsoft.com/office/powerpoint/2010/main" val="2583039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13AF7-DF0D-50E2-F0D7-9150F13C561E}"/>
              </a:ext>
            </a:extLst>
          </p:cNvPr>
          <p:cNvSpPr>
            <a:spLocks noGrp="1"/>
          </p:cNvSpPr>
          <p:nvPr>
            <p:ph type="title"/>
          </p:nvPr>
        </p:nvSpPr>
        <p:spPr>
          <a:xfrm>
            <a:off x="0" y="0"/>
            <a:ext cx="4252685" cy="1582057"/>
          </a:xfrm>
        </p:spPr>
        <p:txBody>
          <a:bodyPr>
            <a:normAutofit fontScale="90000"/>
          </a:bodyPr>
          <a:lstStyle/>
          <a:p>
            <a:r>
              <a:rPr lang="en-US" sz="4500" b="1" dirty="0"/>
              <a:t>FESEABILITY</a:t>
            </a:r>
            <a:br>
              <a:rPr lang="en-US" sz="4500" b="1" dirty="0"/>
            </a:br>
            <a:r>
              <a:rPr lang="en-US" sz="4500" b="1" dirty="0"/>
              <a:t>(CAN WE BUILD IT):</a:t>
            </a:r>
          </a:p>
        </p:txBody>
      </p:sp>
      <p:sp>
        <p:nvSpPr>
          <p:cNvPr id="3" name="Content Placeholder 2">
            <a:extLst>
              <a:ext uri="{FF2B5EF4-FFF2-40B4-BE49-F238E27FC236}">
                <a16:creationId xmlns:a16="http://schemas.microsoft.com/office/drawing/2014/main" id="{07768100-6B4B-5369-858E-7EE43F98726E}"/>
              </a:ext>
            </a:extLst>
          </p:cNvPr>
          <p:cNvSpPr>
            <a:spLocks noGrp="1"/>
          </p:cNvSpPr>
          <p:nvPr>
            <p:ph idx="1"/>
          </p:nvPr>
        </p:nvSpPr>
        <p:spPr>
          <a:xfrm>
            <a:off x="0" y="1378857"/>
            <a:ext cx="6858000" cy="8527143"/>
          </a:xfrm>
        </p:spPr>
        <p:txBody>
          <a:bodyPr>
            <a:normAutofit/>
          </a:bodyPr>
          <a:lstStyle/>
          <a:p>
            <a:pPr marL="0" indent="0">
              <a:buNone/>
            </a:pPr>
            <a:r>
              <a:rPr lang="en-US" sz="2500" b="1" dirty="0">
                <a:highlight>
                  <a:srgbClr val="00FF00"/>
                </a:highlight>
              </a:rPr>
              <a:t>TOOLS,PLATFORMS AND TECH SACK USED:</a:t>
            </a:r>
          </a:p>
          <a:p>
            <a:r>
              <a:rPr lang="en-US" sz="2400" i="1" dirty="0"/>
              <a:t>Frontend: HTML, CSS, JavaScript</a:t>
            </a:r>
          </a:p>
          <a:p>
            <a:r>
              <a:rPr lang="en-US" sz="2400" i="1" dirty="0"/>
              <a:t>Backend: Python / Node.js</a:t>
            </a:r>
          </a:p>
          <a:p>
            <a:r>
              <a:rPr lang="en-US" sz="2400" i="1" dirty="0"/>
              <a:t>Database: Firebase / MySQL</a:t>
            </a:r>
          </a:p>
          <a:p>
            <a:r>
              <a:rPr lang="en-US" sz="2400" i="1" dirty="0"/>
              <a:t>Platform: Web &amp; Mobile (Android &amp; iOS)</a:t>
            </a:r>
          </a:p>
          <a:p>
            <a:r>
              <a:rPr lang="en-US" sz="2400" i="1" dirty="0"/>
              <a:t>APIs &amp; Tools: Google Maps API, Cloud Storage, Al-based suggestions</a:t>
            </a:r>
          </a:p>
          <a:p>
            <a:r>
              <a:rPr lang="en-US" sz="2400" i="1" dirty="0"/>
              <a:t>Design Tools: Canva, Figma.</a:t>
            </a:r>
          </a:p>
        </p:txBody>
      </p:sp>
      <p:pic>
        <p:nvPicPr>
          <p:cNvPr id="5" name="Picture 4">
            <a:extLst>
              <a:ext uri="{FF2B5EF4-FFF2-40B4-BE49-F238E27FC236}">
                <a16:creationId xmlns:a16="http://schemas.microsoft.com/office/drawing/2014/main" id="{1C2A866E-9C24-6852-3F32-F307441C4C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5684" y="6393429"/>
            <a:ext cx="1767001" cy="1767001"/>
          </a:xfrm>
          <a:prstGeom prst="rect">
            <a:avLst/>
          </a:prstGeom>
        </p:spPr>
      </p:pic>
      <p:pic>
        <p:nvPicPr>
          <p:cNvPr id="7" name="Picture 6">
            <a:extLst>
              <a:ext uri="{FF2B5EF4-FFF2-40B4-BE49-F238E27FC236}">
                <a16:creationId xmlns:a16="http://schemas.microsoft.com/office/drawing/2014/main" id="{7476BFD6-3E11-F97F-6C82-7DCA81FA72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619" y="4820500"/>
            <a:ext cx="2652620" cy="1767001"/>
          </a:xfrm>
          <a:prstGeom prst="rect">
            <a:avLst/>
          </a:prstGeom>
        </p:spPr>
      </p:pic>
      <p:pic>
        <p:nvPicPr>
          <p:cNvPr id="9" name="Picture 8">
            <a:extLst>
              <a:ext uri="{FF2B5EF4-FFF2-40B4-BE49-F238E27FC236}">
                <a16:creationId xmlns:a16="http://schemas.microsoft.com/office/drawing/2014/main" id="{C927C48A-FEC0-6423-2C5C-BFED78AD7C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90763" y="4953000"/>
            <a:ext cx="2530172" cy="1897629"/>
          </a:xfrm>
          <a:prstGeom prst="rect">
            <a:avLst/>
          </a:prstGeom>
        </p:spPr>
      </p:pic>
      <p:pic>
        <p:nvPicPr>
          <p:cNvPr id="11" name="Picture 10">
            <a:extLst>
              <a:ext uri="{FF2B5EF4-FFF2-40B4-BE49-F238E27FC236}">
                <a16:creationId xmlns:a16="http://schemas.microsoft.com/office/drawing/2014/main" id="{7DA959BA-5B26-86B9-B720-21157D463B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0180" y="7745082"/>
            <a:ext cx="2689962" cy="1794205"/>
          </a:xfrm>
          <a:prstGeom prst="rect">
            <a:avLst/>
          </a:prstGeom>
        </p:spPr>
      </p:pic>
      <p:pic>
        <p:nvPicPr>
          <p:cNvPr id="15" name="Picture 14">
            <a:extLst>
              <a:ext uri="{FF2B5EF4-FFF2-40B4-BE49-F238E27FC236}">
                <a16:creationId xmlns:a16="http://schemas.microsoft.com/office/drawing/2014/main" id="{6CCE8102-22FC-6187-064F-F22429BC6D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11380" y="8018803"/>
            <a:ext cx="3141335" cy="1767001"/>
          </a:xfrm>
          <a:prstGeom prst="rect">
            <a:avLst/>
          </a:prstGeom>
        </p:spPr>
      </p:pic>
    </p:spTree>
    <p:extLst>
      <p:ext uri="{BB962C8B-B14F-4D97-AF65-F5344CB8AC3E}">
        <p14:creationId xmlns:p14="http://schemas.microsoft.com/office/powerpoint/2010/main" val="283530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CC63A-43A1-10B4-D7AD-0A5ED0B154D8}"/>
              </a:ext>
            </a:extLst>
          </p:cNvPr>
          <p:cNvSpPr>
            <a:spLocks noGrp="1"/>
          </p:cNvSpPr>
          <p:nvPr>
            <p:ph type="title"/>
          </p:nvPr>
        </p:nvSpPr>
        <p:spPr>
          <a:xfrm>
            <a:off x="471488" y="527405"/>
            <a:ext cx="5915025" cy="1794881"/>
          </a:xfrm>
        </p:spPr>
        <p:txBody>
          <a:bodyPr>
            <a:normAutofit/>
          </a:bodyPr>
          <a:lstStyle/>
          <a:p>
            <a:r>
              <a:rPr lang="en-US" sz="3500" b="1" dirty="0">
                <a:highlight>
                  <a:srgbClr val="00FF00"/>
                </a:highlight>
              </a:rPr>
              <a:t>DEVELOPMENT ARCHITECTURE OR PLAN:-</a:t>
            </a:r>
          </a:p>
        </p:txBody>
      </p:sp>
      <p:sp>
        <p:nvSpPr>
          <p:cNvPr id="3" name="Content Placeholder 2">
            <a:extLst>
              <a:ext uri="{FF2B5EF4-FFF2-40B4-BE49-F238E27FC236}">
                <a16:creationId xmlns:a16="http://schemas.microsoft.com/office/drawing/2014/main" id="{A1F5F56E-1174-07BA-EEA1-E4350F4DCAF6}"/>
              </a:ext>
            </a:extLst>
          </p:cNvPr>
          <p:cNvSpPr>
            <a:spLocks noGrp="1"/>
          </p:cNvSpPr>
          <p:nvPr>
            <p:ph idx="1"/>
          </p:nvPr>
        </p:nvSpPr>
        <p:spPr>
          <a:xfrm>
            <a:off x="0" y="1951630"/>
            <a:ext cx="6857999" cy="7954370"/>
          </a:xfrm>
        </p:spPr>
        <p:txBody>
          <a:bodyPr>
            <a:normAutofit/>
          </a:bodyPr>
          <a:lstStyle/>
          <a:p>
            <a:r>
              <a:rPr lang="en-US" sz="3000" i="1" dirty="0"/>
              <a:t>Phase 1- Research &amp; Data / MySQL</a:t>
            </a:r>
          </a:p>
          <a:p>
            <a:r>
              <a:rPr lang="en-US" sz="3000" i="1" dirty="0"/>
              <a:t>Phase 4 - Testing &amp; Deployment: Tested app</a:t>
            </a:r>
          </a:p>
          <a:p>
            <a:r>
              <a:rPr lang="en-US" sz="3000" i="1" dirty="0"/>
              <a:t>performance and </a:t>
            </a:r>
            <a:r>
              <a:rPr lang="en-US" sz="3000" i="1" dirty="0" err="1"/>
              <a:t>deployCollection</a:t>
            </a:r>
            <a:r>
              <a:rPr lang="en-US" sz="3000" i="1" dirty="0"/>
              <a:t>:</a:t>
            </a:r>
          </a:p>
          <a:p>
            <a:r>
              <a:rPr lang="en-US" sz="3000" i="1" dirty="0"/>
              <a:t>Gathered information on regional heritage foods.</a:t>
            </a:r>
            <a:endParaRPr lang="en-US" sz="3000" b="1" i="1" dirty="0"/>
          </a:p>
          <a:p>
            <a:r>
              <a:rPr lang="en-US" sz="3000" i="1" dirty="0"/>
              <a:t>Phase 2 - Design: Created UI/UX in Figma &amp; Canva for an engaging user experience.</a:t>
            </a:r>
          </a:p>
          <a:p>
            <a:r>
              <a:rPr lang="en-US" sz="3000" i="1" dirty="0"/>
              <a:t>Phase 3 - Development:</a:t>
            </a:r>
          </a:p>
          <a:p>
            <a:r>
              <a:rPr lang="en-US" sz="3000" i="1" dirty="0"/>
              <a:t>Frontend: </a:t>
            </a:r>
            <a:r>
              <a:rPr lang="en-US" sz="3000" i="1" dirty="0" err="1"/>
              <a:t>HTML,CSS,JavaScript</a:t>
            </a:r>
            <a:endParaRPr lang="en-US" sz="3000" i="1" u="sng" dirty="0"/>
          </a:p>
          <a:p>
            <a:r>
              <a:rPr lang="en-US" sz="3000" i="1" dirty="0"/>
              <a:t>Backend: Python / Node.js</a:t>
            </a:r>
          </a:p>
          <a:p>
            <a:r>
              <a:rPr lang="en-US" sz="3000" i="1" dirty="0"/>
              <a:t>Database: Firebase ed on Web &amp; Mobile platforms.</a:t>
            </a:r>
          </a:p>
          <a:p>
            <a:r>
              <a:rPr lang="en-US" sz="3000" i="1" dirty="0"/>
              <a:t>Architecture: Follows Client-Server model with secure cloud storage for data access</a:t>
            </a:r>
            <a:r>
              <a:rPr lang="en-US" sz="3000" b="1" i="1" dirty="0"/>
              <a:t>.</a:t>
            </a:r>
          </a:p>
        </p:txBody>
      </p:sp>
    </p:spTree>
    <p:extLst>
      <p:ext uri="{BB962C8B-B14F-4D97-AF65-F5344CB8AC3E}">
        <p14:creationId xmlns:p14="http://schemas.microsoft.com/office/powerpoint/2010/main" val="890967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F3EF-6747-A719-9AF7-9EF82B7ECA6E}"/>
              </a:ext>
            </a:extLst>
          </p:cNvPr>
          <p:cNvSpPr>
            <a:spLocks noGrp="1"/>
          </p:cNvSpPr>
          <p:nvPr>
            <p:ph type="title"/>
          </p:nvPr>
        </p:nvSpPr>
        <p:spPr>
          <a:xfrm>
            <a:off x="0" y="1"/>
            <a:ext cx="5227093" cy="983719"/>
          </a:xfrm>
        </p:spPr>
        <p:txBody>
          <a:bodyPr>
            <a:normAutofit fontScale="90000"/>
          </a:bodyPr>
          <a:lstStyle/>
          <a:p>
            <a:br>
              <a:rPr lang="en-US" sz="4000" b="1" dirty="0"/>
            </a:br>
            <a:r>
              <a:rPr lang="en-US" sz="4500" b="1" dirty="0"/>
              <a:t>VIABILITY</a:t>
            </a:r>
            <a:br>
              <a:rPr lang="en-US" sz="4500" b="1" dirty="0"/>
            </a:br>
            <a:r>
              <a:rPr lang="en-US" sz="4500" b="1" dirty="0"/>
              <a:t>(IS IT SUSTANIABLE):-</a:t>
            </a:r>
          </a:p>
        </p:txBody>
      </p:sp>
      <p:sp>
        <p:nvSpPr>
          <p:cNvPr id="3" name="Content Placeholder 2">
            <a:extLst>
              <a:ext uri="{FF2B5EF4-FFF2-40B4-BE49-F238E27FC236}">
                <a16:creationId xmlns:a16="http://schemas.microsoft.com/office/drawing/2014/main" id="{D35140EC-7CC3-7E5F-EE08-7A1DAD260020}"/>
              </a:ext>
            </a:extLst>
          </p:cNvPr>
          <p:cNvSpPr>
            <a:spLocks noGrp="1"/>
          </p:cNvSpPr>
          <p:nvPr>
            <p:ph idx="1"/>
          </p:nvPr>
        </p:nvSpPr>
        <p:spPr>
          <a:xfrm>
            <a:off x="0" y="1419367"/>
            <a:ext cx="6857999" cy="8486632"/>
          </a:xfrm>
        </p:spPr>
        <p:txBody>
          <a:bodyPr>
            <a:normAutofit/>
          </a:bodyPr>
          <a:lstStyle/>
          <a:p>
            <a:pPr marL="0" indent="0">
              <a:buNone/>
            </a:pPr>
            <a:r>
              <a:rPr lang="en-US" sz="2500" b="1" dirty="0">
                <a:highlight>
                  <a:srgbClr val="00FF00"/>
                </a:highlight>
              </a:rPr>
              <a:t>REVENUE MODEL OR MPACT MODEL:</a:t>
            </a:r>
          </a:p>
          <a:p>
            <a:pPr marL="0" indent="0">
              <a:buNone/>
            </a:pPr>
            <a:r>
              <a:rPr lang="en-US" sz="2400" i="1" dirty="0"/>
              <a:t>                               </a:t>
            </a:r>
            <a:r>
              <a:rPr lang="en-US" sz="2400" i="1" u="sng" dirty="0"/>
              <a:t>Revenue Model:</a:t>
            </a:r>
          </a:p>
          <a:p>
            <a:pPr marL="0" indent="0">
              <a:buNone/>
            </a:pPr>
            <a:endParaRPr lang="en-US" sz="2400" i="1" dirty="0"/>
          </a:p>
          <a:p>
            <a:r>
              <a:rPr lang="en-US" sz="2500" i="1" dirty="0" err="1"/>
              <a:t>Advertisments</a:t>
            </a:r>
            <a:r>
              <a:rPr lang="en-US" sz="2500" i="1" dirty="0"/>
              <a:t> from local food business and brands.</a:t>
            </a:r>
          </a:p>
          <a:p>
            <a:r>
              <a:rPr lang="en-US" sz="2500" i="1" dirty="0" err="1"/>
              <a:t>Premimum</a:t>
            </a:r>
            <a:r>
              <a:rPr lang="en-US" sz="2500" i="1" dirty="0"/>
              <a:t> content for exclusive recipes and cultural insights.</a:t>
            </a:r>
          </a:p>
          <a:p>
            <a:r>
              <a:rPr lang="en-US" sz="2500" i="1" dirty="0"/>
              <a:t>Partnerships with tourism </a:t>
            </a:r>
            <a:r>
              <a:rPr lang="en-US" sz="2500" i="1" dirty="0" err="1"/>
              <a:t>boards,resturantsand</a:t>
            </a:r>
            <a:r>
              <a:rPr lang="en-US" sz="2500" i="1" dirty="0"/>
              <a:t> artisans.</a:t>
            </a:r>
          </a:p>
          <a:p>
            <a:r>
              <a:rPr lang="en-US" sz="2500" i="1" dirty="0"/>
              <a:t>E-commerce integration for traditional ingredients or recipe kits.</a:t>
            </a:r>
          </a:p>
          <a:p>
            <a:pPr marL="0" indent="0">
              <a:buNone/>
            </a:pPr>
            <a:r>
              <a:rPr lang="en-US" sz="2500" i="1" dirty="0"/>
              <a:t>                          </a:t>
            </a:r>
            <a:r>
              <a:rPr lang="en-US" sz="2400" i="1" u="sng" dirty="0" err="1"/>
              <a:t>Imapct</a:t>
            </a:r>
            <a:r>
              <a:rPr lang="en-US" sz="2400" i="1" u="sng" dirty="0"/>
              <a:t> model:</a:t>
            </a:r>
          </a:p>
          <a:p>
            <a:r>
              <a:rPr lang="en-US" sz="2500" i="1" dirty="0"/>
              <a:t>Preserves India’s culinary heritage for future generations</a:t>
            </a:r>
            <a:r>
              <a:rPr lang="en-US" sz="2500" i="1" u="sng" dirty="0"/>
              <a:t>.</a:t>
            </a:r>
          </a:p>
          <a:p>
            <a:r>
              <a:rPr lang="en-US" sz="2500" i="1" dirty="0"/>
              <a:t>Promotes local business and artisans.</a:t>
            </a:r>
          </a:p>
          <a:p>
            <a:r>
              <a:rPr lang="en-US" sz="2500" i="1" dirty="0"/>
              <a:t>Educates users about </a:t>
            </a:r>
            <a:r>
              <a:rPr lang="en-US" sz="2500" i="1" dirty="0" err="1"/>
              <a:t>culture,history</a:t>
            </a:r>
            <a:r>
              <a:rPr lang="en-US" sz="2500" i="1" dirty="0"/>
              <a:t> and nutrition.</a:t>
            </a:r>
          </a:p>
          <a:p>
            <a:r>
              <a:rPr lang="en-US" sz="2500" i="1" dirty="0"/>
              <a:t>Encourages </a:t>
            </a:r>
            <a:r>
              <a:rPr lang="en-US" sz="2500" i="1" dirty="0" err="1"/>
              <a:t>sustainableand</a:t>
            </a:r>
            <a:r>
              <a:rPr lang="en-US" sz="2500" i="1" dirty="0"/>
              <a:t> healthy eating habits.   </a:t>
            </a:r>
          </a:p>
        </p:txBody>
      </p:sp>
    </p:spTree>
    <p:extLst>
      <p:ext uri="{BB962C8B-B14F-4D97-AF65-F5344CB8AC3E}">
        <p14:creationId xmlns:p14="http://schemas.microsoft.com/office/powerpoint/2010/main" val="158620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2BAA63-9336-1F09-E908-3D77C1BB7D3F}"/>
              </a:ext>
            </a:extLst>
          </p:cNvPr>
          <p:cNvSpPr>
            <a:spLocks noGrp="1"/>
          </p:cNvSpPr>
          <p:nvPr>
            <p:ph idx="1"/>
          </p:nvPr>
        </p:nvSpPr>
        <p:spPr>
          <a:xfrm>
            <a:off x="0" y="1"/>
            <a:ext cx="6858000" cy="9580728"/>
          </a:xfrm>
        </p:spPr>
        <p:txBody>
          <a:bodyPr>
            <a:normAutofit/>
          </a:bodyPr>
          <a:lstStyle/>
          <a:p>
            <a:pPr marL="0" indent="0">
              <a:buNone/>
            </a:pPr>
            <a:r>
              <a:rPr lang="en-US" sz="2500" b="1" dirty="0">
                <a:highlight>
                  <a:srgbClr val="00FF00"/>
                </a:highlight>
              </a:rPr>
              <a:t>TARGET MARKET PRIZE:</a:t>
            </a:r>
          </a:p>
          <a:p>
            <a:r>
              <a:rPr lang="en-US" sz="2400" i="1" dirty="0"/>
              <a:t>Food Enthusiasts &amp; Tourists: Seek authentic regional dishes and food trails.</a:t>
            </a:r>
          </a:p>
          <a:p>
            <a:r>
              <a:rPr lang="en-US" sz="2400" i="1" dirty="0"/>
              <a:t>Young Consumers (18-35 yrs): College students, vloggers, and professionals interested in traditional and healthy foods.</a:t>
            </a:r>
          </a:p>
          <a:p>
            <a:r>
              <a:rPr lang="en-US" sz="2400" i="1" dirty="0"/>
              <a:t>Local Food Vendors: Promote regional recipes</a:t>
            </a:r>
          </a:p>
          <a:p>
            <a:pPr marL="0" indent="0">
              <a:buNone/>
            </a:pPr>
            <a:r>
              <a:rPr lang="en-US" sz="2400" i="1" dirty="0"/>
              <a:t>and cultural dishes through digital exposure.</a:t>
            </a:r>
          </a:p>
          <a:p>
            <a:r>
              <a:rPr lang="en-US" sz="2400" i="1" dirty="0"/>
              <a:t>Cultural &amp; Tourism Bodies: Use the platform for heritage food events and collaborations.</a:t>
            </a:r>
          </a:p>
          <a:p>
            <a:pPr marL="0" indent="0">
              <a:buNone/>
            </a:pPr>
            <a:r>
              <a:rPr lang="en-US" sz="2400" b="1" dirty="0">
                <a:highlight>
                  <a:srgbClr val="00FF00"/>
                </a:highlight>
              </a:rPr>
              <a:t>MARKET DEMAND:</a:t>
            </a:r>
          </a:p>
          <a:p>
            <a:r>
              <a:rPr lang="en-US" sz="2400" i="1" dirty="0"/>
              <a:t>India's food tourism market is valued at $50+ billion, growing 10-15% annually.</a:t>
            </a:r>
          </a:p>
          <a:p>
            <a:r>
              <a:rPr lang="en-US" sz="2400" i="1" dirty="0"/>
              <a:t>Increasing awareness of traditional, healthy, and organic food habits.</a:t>
            </a:r>
          </a:p>
          <a:p>
            <a:r>
              <a:rPr lang="en-US" sz="2400" i="1" dirty="0"/>
              <a:t>Supported by initiatives like "Vocal for Local" and "Incredible India."</a:t>
            </a:r>
          </a:p>
          <a:p>
            <a:r>
              <a:rPr lang="en-US" sz="2400" i="1" dirty="0"/>
              <a:t>Rising trend of food vlogs, reels, and culinary travel.</a:t>
            </a:r>
          </a:p>
          <a:p>
            <a:pPr marL="0" indent="0">
              <a:buNone/>
            </a:pPr>
            <a:r>
              <a:rPr lang="en-US" sz="2500" b="1" dirty="0">
                <a:highlight>
                  <a:srgbClr val="00FF00"/>
                </a:highlight>
              </a:rPr>
              <a:t>PRICE MODEL:</a:t>
            </a:r>
          </a:p>
          <a:p>
            <a:r>
              <a:rPr lang="en-US" sz="2400" i="1" dirty="0"/>
              <a:t>Free Users: Explore dishes and recipes.</a:t>
            </a:r>
          </a:p>
          <a:p>
            <a:r>
              <a:rPr lang="en-US" sz="2400" i="1" dirty="0"/>
              <a:t>Premium Users: ₹99-₹199/month for exclusive content &amp; cultural stories.</a:t>
            </a:r>
          </a:p>
          <a:p>
            <a:r>
              <a:rPr lang="en-US" sz="2400" i="1" dirty="0"/>
              <a:t>Vendors: ₹500-₹1000/month to promote their heritage food stalls online.</a:t>
            </a:r>
            <a:endParaRPr lang="en-US" sz="2400" i="1" dirty="0">
              <a:highlight>
                <a:srgbClr val="00FF00"/>
              </a:highlight>
            </a:endParaRPr>
          </a:p>
        </p:txBody>
      </p:sp>
    </p:spTree>
    <p:extLst>
      <p:ext uri="{BB962C8B-B14F-4D97-AF65-F5344CB8AC3E}">
        <p14:creationId xmlns:p14="http://schemas.microsoft.com/office/powerpoint/2010/main" val="2285769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55EBA4-1400-241F-B6D3-3568604A1445}"/>
              </a:ext>
            </a:extLst>
          </p:cNvPr>
          <p:cNvSpPr>
            <a:spLocks noGrp="1"/>
          </p:cNvSpPr>
          <p:nvPr>
            <p:ph idx="1"/>
          </p:nvPr>
        </p:nvSpPr>
        <p:spPr>
          <a:xfrm>
            <a:off x="0" y="0"/>
            <a:ext cx="6857999" cy="9906000"/>
          </a:xfr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p:spPr>
        <p:txBody>
          <a:bodyPr>
            <a:normAutofit/>
          </a:bodyPr>
          <a:lstStyle/>
          <a:p>
            <a:pPr marL="0" indent="0">
              <a:buNone/>
            </a:pPr>
            <a:r>
              <a:rPr lang="en-US" sz="2500" b="1" dirty="0">
                <a:highlight>
                  <a:srgbClr val="00FF00"/>
                </a:highlight>
              </a:rPr>
              <a:t>COST ESTIMATES</a:t>
            </a:r>
            <a:r>
              <a:rPr lang="en-US" sz="2500" dirty="0">
                <a:highlight>
                  <a:srgbClr val="00FF00"/>
                </a:highlight>
              </a:rPr>
              <a:t> :</a:t>
            </a:r>
          </a:p>
          <a:p>
            <a:pPr>
              <a:buFont typeface="Wingdings" panose="05000000000000000000" pitchFamily="2" charset="2"/>
              <a:buChar char="v"/>
            </a:pPr>
            <a:r>
              <a:rPr lang="en-US" sz="2500" dirty="0">
                <a:solidFill>
                  <a:schemeClr val="accent1">
                    <a:lumMod val="75000"/>
                  </a:schemeClr>
                </a:solidFill>
                <a:highlight>
                  <a:srgbClr val="FFFF00"/>
                </a:highlight>
              </a:rPr>
              <a:t> </a:t>
            </a:r>
            <a:r>
              <a:rPr lang="en-US" sz="2500" u="sng" dirty="0">
                <a:solidFill>
                  <a:schemeClr val="accent1">
                    <a:lumMod val="75000"/>
                  </a:schemeClr>
                </a:solidFill>
                <a:highlight>
                  <a:srgbClr val="FFFF00"/>
                </a:highlight>
              </a:rPr>
              <a:t>Estimated Initial Costs (Prototype Stage)</a:t>
            </a:r>
            <a:endParaRPr lang="en-US" sz="2400" i="1" dirty="0"/>
          </a:p>
          <a:p>
            <a:r>
              <a:rPr lang="en-US" sz="2400" i="1" dirty="0"/>
              <a:t>App / Website Development: ₹30,000 - ₹50,000</a:t>
            </a:r>
          </a:p>
          <a:p>
            <a:r>
              <a:rPr lang="en-US" sz="2400" i="1" dirty="0"/>
              <a:t>Hosting &amp; Cloud Services: ₹5,000 -  ₹10,000 /year</a:t>
            </a:r>
          </a:p>
          <a:p>
            <a:r>
              <a:rPr lang="en-US" sz="2400" i="1" dirty="0"/>
              <a:t>Content Collection (Recipes, Photos): ₹10,000- ₹15,000</a:t>
            </a:r>
          </a:p>
          <a:p>
            <a:r>
              <a:rPr lang="en-US" sz="2400" i="1" dirty="0"/>
              <a:t>Marketing &amp; Social Media: ₹5,000 - ₹8,000</a:t>
            </a:r>
          </a:p>
          <a:p>
            <a:r>
              <a:rPr lang="en-US" sz="2400" i="1" dirty="0"/>
              <a:t>Maintenance &amp; Updates: ₹3,000 / month</a:t>
            </a:r>
          </a:p>
          <a:p>
            <a:pPr marL="0" indent="0">
              <a:buNone/>
            </a:pPr>
            <a:r>
              <a:rPr lang="en-US" sz="2500" dirty="0">
                <a:highlight>
                  <a:srgbClr val="FFFF00"/>
                </a:highlight>
              </a:rPr>
              <a:t>Total Estimated Cost: ₹60,000 - ₹85,000</a:t>
            </a:r>
          </a:p>
          <a:p>
            <a:pPr marL="0" indent="0">
              <a:buNone/>
            </a:pPr>
            <a:r>
              <a:rPr lang="en-US" sz="2500" b="1" dirty="0">
                <a:highlight>
                  <a:srgbClr val="00FF00"/>
                </a:highlight>
              </a:rPr>
              <a:t>SCALABILITY PLAN:</a:t>
            </a:r>
          </a:p>
          <a:p>
            <a:r>
              <a:rPr lang="en-US" sz="2400" i="1" dirty="0"/>
              <a:t>Phase 1 - Local Launch: Start in one state (e.g., Tamil Nadu) with local vendors.</a:t>
            </a:r>
          </a:p>
          <a:p>
            <a:r>
              <a:rPr lang="en-US" sz="2400" i="1" dirty="0"/>
              <a:t>Phase 2 - Regional Expansion: Add cuisines from multiple states.</a:t>
            </a:r>
          </a:p>
          <a:p>
            <a:r>
              <a:rPr lang="en-US" sz="2400" i="1" dirty="0"/>
              <a:t>Phase 3 - National Growth: Partner with tourism boards and food influencers.</a:t>
            </a:r>
          </a:p>
          <a:p>
            <a:r>
              <a:rPr lang="en-US" sz="2400" i="1" dirty="0"/>
              <a:t>Phase 4 - Global Reach: Introduce "Virtual Food Tours of India" for global users.</a:t>
            </a:r>
          </a:p>
          <a:p>
            <a:pPr marL="0" indent="0">
              <a:buNone/>
            </a:pPr>
            <a:r>
              <a:rPr lang="en-US" sz="2400" b="1" dirty="0">
                <a:highlight>
                  <a:srgbClr val="00FF00"/>
                </a:highlight>
              </a:rPr>
              <a:t>SCALABILITY HIGHLIGHTS:</a:t>
            </a:r>
          </a:p>
          <a:p>
            <a:r>
              <a:rPr lang="en-US" sz="2400" i="1" dirty="0"/>
              <a:t>Cloud-based platform to support large user growth.</a:t>
            </a:r>
          </a:p>
          <a:p>
            <a:r>
              <a:rPr lang="en-US" sz="2400" i="1" dirty="0"/>
              <a:t>Vendor onboarding ensures sustainable revenue.</a:t>
            </a:r>
          </a:p>
          <a:p>
            <a:r>
              <a:rPr lang="en-US" sz="2400" i="1" dirty="0"/>
              <a:t>Integration with tourism &amp; cultural departments boosts reach.</a:t>
            </a:r>
            <a:endParaRPr lang="en-US" sz="2400" i="1" dirty="0">
              <a:highlight>
                <a:srgbClr val="00FF00"/>
              </a:highlight>
            </a:endParaRPr>
          </a:p>
        </p:txBody>
      </p:sp>
    </p:spTree>
    <p:extLst>
      <p:ext uri="{BB962C8B-B14F-4D97-AF65-F5344CB8AC3E}">
        <p14:creationId xmlns:p14="http://schemas.microsoft.com/office/powerpoint/2010/main" val="3778118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2978-1F0C-0B68-3B32-16DCA276DD34}"/>
              </a:ext>
            </a:extLst>
          </p:cNvPr>
          <p:cNvSpPr>
            <a:spLocks noGrp="1"/>
          </p:cNvSpPr>
          <p:nvPr>
            <p:ph type="title"/>
          </p:nvPr>
        </p:nvSpPr>
        <p:spPr>
          <a:xfrm rot="10800000" flipV="1">
            <a:off x="-1" y="-95534"/>
            <a:ext cx="4844955" cy="764274"/>
          </a:xfrm>
        </p:spPr>
        <p:txBody>
          <a:bodyPr>
            <a:normAutofit/>
          </a:bodyPr>
          <a:lstStyle/>
          <a:p>
            <a:r>
              <a:rPr lang="en-US" sz="4500" b="1" dirty="0"/>
              <a:t>PROTOTYPE/DEMO:</a:t>
            </a:r>
          </a:p>
        </p:txBody>
      </p:sp>
      <p:sp>
        <p:nvSpPr>
          <p:cNvPr id="3" name="Content Placeholder 2">
            <a:extLst>
              <a:ext uri="{FF2B5EF4-FFF2-40B4-BE49-F238E27FC236}">
                <a16:creationId xmlns:a16="http://schemas.microsoft.com/office/drawing/2014/main" id="{2970C85E-706B-BD68-5AE0-E2E7A64E8E22}"/>
              </a:ext>
            </a:extLst>
          </p:cNvPr>
          <p:cNvSpPr>
            <a:spLocks noGrp="1"/>
          </p:cNvSpPr>
          <p:nvPr>
            <p:ph idx="1"/>
          </p:nvPr>
        </p:nvSpPr>
        <p:spPr>
          <a:xfrm>
            <a:off x="0" y="668741"/>
            <a:ext cx="6858000" cy="9237259"/>
          </a:xfrm>
        </p:spPr>
        <p:txBody>
          <a:bodyPr>
            <a:normAutofit lnSpcReduction="10000"/>
          </a:bodyPr>
          <a:lstStyle/>
          <a:p>
            <a:r>
              <a:rPr lang="en-US" b="1" dirty="0">
                <a:highlight>
                  <a:srgbClr val="00FF00"/>
                </a:highlight>
              </a:rPr>
              <a:t>OVERVIEW</a:t>
            </a:r>
            <a:r>
              <a:rPr lang="en-US" dirty="0">
                <a:highlight>
                  <a:srgbClr val="00FF00"/>
                </a:highlight>
              </a:rPr>
              <a:t>:</a:t>
            </a:r>
          </a:p>
          <a:p>
            <a:pPr marL="0" indent="0">
              <a:buNone/>
            </a:pPr>
            <a:r>
              <a:rPr lang="en-US" sz="2400" i="1" dirty="0"/>
              <a:t>Our prototype is a mobile + web platform that helps users explore and experience India's heritage foods through an interactive interface.</a:t>
            </a:r>
            <a:endParaRPr lang="en-US" sz="2400" i="1" dirty="0">
              <a:highlight>
                <a:srgbClr val="00FF00"/>
              </a:highlight>
            </a:endParaRPr>
          </a:p>
          <a:p>
            <a:pPr marL="0" indent="0">
              <a:buNone/>
            </a:pPr>
            <a:r>
              <a:rPr lang="en-US" sz="2500" b="1" dirty="0">
                <a:highlight>
                  <a:srgbClr val="00FF00"/>
                </a:highlight>
              </a:rPr>
              <a:t>Key Features</a:t>
            </a:r>
          </a:p>
          <a:p>
            <a:r>
              <a:rPr lang="en-US" sz="2400" i="1" dirty="0"/>
              <a:t>Explore traditional dishes state-wise</a:t>
            </a:r>
          </a:p>
          <a:p>
            <a:r>
              <a:rPr lang="en-US" sz="2400" i="1" dirty="0"/>
              <a:t>Interactive Heritage Food Map</a:t>
            </a:r>
          </a:p>
          <a:p>
            <a:r>
              <a:rPr lang="en-US" sz="2400" i="1" dirty="0"/>
              <a:t>Vendor Connect - discover and promote local cooks</a:t>
            </a:r>
          </a:p>
          <a:p>
            <a:r>
              <a:rPr lang="en-US" sz="2400" i="1" dirty="0"/>
              <a:t>Cultural Gallery - images, ingredients, and preparation videos</a:t>
            </a:r>
          </a:p>
          <a:p>
            <a:r>
              <a:rPr lang="en-US" sz="2400" i="1" dirty="0"/>
              <a:t>Save &amp; Share - favorite dishes and food trails.</a:t>
            </a:r>
          </a:p>
          <a:p>
            <a:pPr marL="0" indent="0">
              <a:buNone/>
            </a:pPr>
            <a:r>
              <a:rPr lang="en-US" sz="2500" b="1" dirty="0">
                <a:highlight>
                  <a:srgbClr val="00FF00"/>
                </a:highlight>
              </a:rPr>
              <a:t>Demo Workflow</a:t>
            </a:r>
            <a:endParaRPr lang="en-US" sz="2400" i="1" dirty="0">
              <a:highlight>
                <a:srgbClr val="00FF00"/>
              </a:highlight>
            </a:endParaRPr>
          </a:p>
          <a:p>
            <a:r>
              <a:rPr lang="en-US" sz="2400" i="1" dirty="0"/>
              <a:t>1. Open home screen India map view</a:t>
            </a:r>
          </a:p>
          <a:p>
            <a:r>
              <a:rPr lang="en-US" sz="2400" i="1" dirty="0"/>
              <a:t>2. Select a state View famous regional foods</a:t>
            </a:r>
          </a:p>
          <a:p>
            <a:r>
              <a:rPr lang="en-US" sz="2400" i="1" dirty="0"/>
              <a:t>See recipe, ingredients &amp; 3. Click a dish</a:t>
            </a:r>
          </a:p>
          <a:p>
            <a:pPr marL="0" indent="0">
              <a:buNone/>
            </a:pPr>
            <a:r>
              <a:rPr lang="en-US" sz="2400" i="1" dirty="0"/>
              <a:t>vendors</a:t>
            </a:r>
          </a:p>
          <a:p>
            <a:r>
              <a:rPr lang="en-US" sz="2400" i="1" dirty="0"/>
              <a:t>4. Add to favorites / share with friends.</a:t>
            </a:r>
          </a:p>
          <a:p>
            <a:pPr marL="0" indent="0">
              <a:buNone/>
            </a:pPr>
            <a:r>
              <a:rPr lang="en-US" sz="2700" b="1" dirty="0">
                <a:highlight>
                  <a:srgbClr val="00FF00"/>
                </a:highlight>
              </a:rPr>
              <a:t>Technology Stack</a:t>
            </a:r>
          </a:p>
          <a:p>
            <a:r>
              <a:rPr lang="en-US" sz="2400" i="1" dirty="0"/>
              <a:t>Frontend: React Native / Flutter</a:t>
            </a:r>
          </a:p>
          <a:p>
            <a:r>
              <a:rPr lang="en-US" sz="2400" i="1" dirty="0"/>
              <a:t>Backend: Firebase / Node.js</a:t>
            </a:r>
          </a:p>
          <a:p>
            <a:r>
              <a:rPr lang="en-US" sz="2400" i="1" dirty="0"/>
              <a:t>Database: </a:t>
            </a:r>
            <a:r>
              <a:rPr lang="en-US" sz="2400" i="1" dirty="0" err="1"/>
              <a:t>Firestore</a:t>
            </a:r>
            <a:r>
              <a:rPr lang="en-US" sz="2400" i="1" dirty="0"/>
              <a:t> / MongoDB</a:t>
            </a:r>
          </a:p>
          <a:p>
            <a:r>
              <a:rPr lang="en-US" sz="2400" i="1" dirty="0"/>
              <a:t>API: Google Maps, Cloud Storage</a:t>
            </a:r>
          </a:p>
          <a:p>
            <a:r>
              <a:rPr lang="en-US" sz="2400" i="1" dirty="0"/>
              <a:t>UI Design: Figma / Canva</a:t>
            </a:r>
          </a:p>
        </p:txBody>
      </p:sp>
    </p:spTree>
    <p:extLst>
      <p:ext uri="{BB962C8B-B14F-4D97-AF65-F5344CB8AC3E}">
        <p14:creationId xmlns:p14="http://schemas.microsoft.com/office/powerpoint/2010/main" val="1064539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20">
          <a:fgClr>
            <a:schemeClr val="accent2">
              <a:lumMod val="60000"/>
              <a:lumOff val="40000"/>
            </a:schemeClr>
          </a:fgClr>
          <a:bgClr>
            <a:schemeClr val="bg1"/>
          </a:bgClr>
        </a:patt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43DFE0-C3C1-BA20-6330-65FE940543B1}"/>
              </a:ext>
            </a:extLst>
          </p:cNvPr>
          <p:cNvSpPr>
            <a:spLocks noGrp="1"/>
          </p:cNvSpPr>
          <p:nvPr>
            <p:ph idx="1"/>
          </p:nvPr>
        </p:nvSpPr>
        <p:spPr>
          <a:xfrm>
            <a:off x="0" y="1"/>
            <a:ext cx="6858000" cy="9905999"/>
          </a:xfrm>
        </p:spPr>
        <p:txBody>
          <a:bodyPr>
            <a:normAutofit fontScale="92500" lnSpcReduction="10000"/>
          </a:bodyPr>
          <a:lstStyle/>
          <a:p>
            <a:pPr marL="0" indent="0">
              <a:buNone/>
            </a:pPr>
            <a:r>
              <a:rPr lang="en-US" sz="2700" b="1" dirty="0">
                <a:highlight>
                  <a:srgbClr val="00FF00"/>
                </a:highlight>
              </a:rPr>
              <a:t>Outcome:</a:t>
            </a:r>
          </a:p>
          <a:p>
            <a:pPr marL="0" indent="0">
              <a:buNone/>
            </a:pPr>
            <a:r>
              <a:rPr lang="en-US" sz="2600" i="1" dirty="0"/>
              <a:t>"Tasters of India" offers a virtual food journey across the nation - blending culture, cuisine, and community in one interactive experience.</a:t>
            </a:r>
          </a:p>
          <a:p>
            <a:pPr marL="0" indent="0">
              <a:buNone/>
            </a:pPr>
            <a:r>
              <a:rPr lang="en-US" sz="2700" b="1" dirty="0">
                <a:highlight>
                  <a:srgbClr val="00FF00"/>
                </a:highlight>
              </a:rPr>
              <a:t>User Flow / Key Interactions</a:t>
            </a:r>
          </a:p>
          <a:p>
            <a:pPr marL="0" indent="0">
              <a:buNone/>
            </a:pPr>
            <a:r>
              <a:rPr lang="en-US" sz="2600" i="1" dirty="0"/>
              <a:t>1</a:t>
            </a:r>
            <a:r>
              <a:rPr lang="en-US" sz="2600" i="1" dirty="0">
                <a:highlight>
                  <a:srgbClr val="FFFF00"/>
                </a:highlight>
              </a:rPr>
              <a:t>. </a:t>
            </a:r>
            <a:r>
              <a:rPr lang="en-US" sz="2400" i="1" dirty="0">
                <a:highlight>
                  <a:srgbClr val="FFFF00"/>
                </a:highlight>
              </a:rPr>
              <a:t>Home Screen</a:t>
            </a:r>
            <a:r>
              <a:rPr lang="en-US" sz="2600" i="1" dirty="0">
                <a:highlight>
                  <a:srgbClr val="FFFF00"/>
                </a:highlight>
              </a:rPr>
              <a:t>:</a:t>
            </a:r>
            <a:r>
              <a:rPr lang="en-US" sz="2600" i="1" dirty="0"/>
              <a:t> Interactive map of India displaying states.</a:t>
            </a:r>
          </a:p>
          <a:p>
            <a:pPr marL="0" indent="0">
              <a:buNone/>
            </a:pPr>
            <a:r>
              <a:rPr lang="en-US" sz="2600" i="1" dirty="0"/>
              <a:t>2. </a:t>
            </a:r>
            <a:r>
              <a:rPr lang="en-US" sz="2600" i="1" dirty="0">
                <a:highlight>
                  <a:srgbClr val="FFFF00"/>
                </a:highlight>
              </a:rPr>
              <a:t>Select a State:</a:t>
            </a:r>
            <a:r>
              <a:rPr lang="en-US" sz="2600" i="1" dirty="0"/>
              <a:t> Shows regional heritage foods with images.</a:t>
            </a:r>
          </a:p>
          <a:p>
            <a:pPr marL="0" indent="0">
              <a:buNone/>
            </a:pPr>
            <a:r>
              <a:rPr lang="en-US" sz="2600" i="1" dirty="0"/>
              <a:t>3. </a:t>
            </a:r>
            <a:r>
              <a:rPr lang="en-US" sz="2600" i="1" dirty="0">
                <a:highlight>
                  <a:srgbClr val="FFFF00"/>
                </a:highlight>
              </a:rPr>
              <a:t>Dish Details </a:t>
            </a:r>
            <a:r>
              <a:rPr lang="en-US" sz="2600" i="1" dirty="0" err="1">
                <a:highlight>
                  <a:srgbClr val="FFFF00"/>
                </a:highlight>
              </a:rPr>
              <a:t>Page:</a:t>
            </a:r>
            <a:r>
              <a:rPr lang="en-US" sz="2600" i="1" dirty="0" err="1"/>
              <a:t>View</a:t>
            </a:r>
            <a:r>
              <a:rPr lang="en-US" sz="2600" i="1" dirty="0"/>
              <a:t> recipe, ingredients, and short </a:t>
            </a:r>
            <a:r>
              <a:rPr lang="en-US" sz="2600" i="1" dirty="0" err="1"/>
              <a:t>history.Option</a:t>
            </a:r>
            <a:r>
              <a:rPr lang="en-US" sz="2600" i="1" dirty="0"/>
              <a:t> to mark as favorite or share.</a:t>
            </a:r>
          </a:p>
          <a:p>
            <a:pPr marL="0" indent="0">
              <a:buNone/>
            </a:pPr>
            <a:r>
              <a:rPr lang="en-US" sz="2600" i="1" dirty="0"/>
              <a:t>4</a:t>
            </a:r>
            <a:r>
              <a:rPr lang="en-US" sz="2600" i="1" dirty="0">
                <a:highlight>
                  <a:srgbClr val="FFFF00"/>
                </a:highlight>
              </a:rPr>
              <a:t>. Vendor Connect: </a:t>
            </a:r>
            <a:r>
              <a:rPr lang="en-US" sz="2600" i="1" dirty="0"/>
              <a:t>Contact or locate nearby traditional food sellers.</a:t>
            </a:r>
          </a:p>
          <a:p>
            <a:pPr marL="0" indent="0">
              <a:buNone/>
            </a:pPr>
            <a:r>
              <a:rPr lang="en-US" sz="2600" i="1" dirty="0"/>
              <a:t>5. </a:t>
            </a:r>
            <a:r>
              <a:rPr lang="en-US" sz="2600" i="1" dirty="0">
                <a:highlight>
                  <a:srgbClr val="FFFF00"/>
                </a:highlight>
              </a:rPr>
              <a:t>Cultural Gallery: </a:t>
            </a:r>
            <a:r>
              <a:rPr lang="en-US" sz="2600" i="1" dirty="0"/>
              <a:t>Watch preparation videos or scroll photo stories.</a:t>
            </a:r>
          </a:p>
          <a:p>
            <a:pPr marL="0" indent="0">
              <a:buNone/>
            </a:pPr>
            <a:r>
              <a:rPr lang="en-US" sz="2600" i="1" dirty="0"/>
              <a:t>6. </a:t>
            </a:r>
            <a:r>
              <a:rPr lang="en-US" sz="2600" i="1" dirty="0">
                <a:highlight>
                  <a:srgbClr val="FFFF00"/>
                </a:highlight>
              </a:rPr>
              <a:t>Profile Section: </a:t>
            </a:r>
            <a:r>
              <a:rPr lang="en-US" sz="2600" i="1" dirty="0"/>
              <a:t>Personalized favorites, saved dishes, and user badges.</a:t>
            </a:r>
          </a:p>
          <a:p>
            <a:pPr marL="0" indent="0">
              <a:buNone/>
            </a:pPr>
            <a:r>
              <a:rPr lang="en-US" sz="2900" b="1" dirty="0">
                <a:highlight>
                  <a:srgbClr val="00FF00"/>
                </a:highlight>
              </a:rPr>
              <a:t>UI Highlights</a:t>
            </a:r>
          </a:p>
          <a:p>
            <a:r>
              <a:rPr lang="en-US" sz="2600" i="1" dirty="0"/>
              <a:t>Warm earthy color theme - saffron, beige, and brown.</a:t>
            </a:r>
          </a:p>
          <a:p>
            <a:r>
              <a:rPr lang="en-US" sz="2600" i="1" dirty="0"/>
              <a:t>Visual map navigation for cultural immersion.</a:t>
            </a:r>
          </a:p>
          <a:p>
            <a:r>
              <a:rPr lang="en-US" sz="2600" i="1" dirty="0"/>
              <a:t>Card-style food display with minimal text &amp; large images.</a:t>
            </a:r>
          </a:p>
          <a:p>
            <a:r>
              <a:rPr lang="en-US" sz="2600" i="1" dirty="0"/>
              <a:t>Bottom navigation bar → Home | Map |Vendors | Gallery | Profile.</a:t>
            </a:r>
          </a:p>
          <a:p>
            <a:r>
              <a:rPr lang="en-US" sz="2600" i="1" dirty="0"/>
              <a:t>Search &amp; filter options by region, ingredient, or festival.</a:t>
            </a:r>
          </a:p>
          <a:p>
            <a:r>
              <a:rPr lang="en-US" sz="2600" i="1" dirty="0"/>
              <a:t>Mini cultural notes or quotes on each dish card.</a:t>
            </a:r>
          </a:p>
        </p:txBody>
      </p:sp>
    </p:spTree>
    <p:extLst>
      <p:ext uri="{BB962C8B-B14F-4D97-AF65-F5344CB8AC3E}">
        <p14:creationId xmlns:p14="http://schemas.microsoft.com/office/powerpoint/2010/main" val="3068285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493045-E621-CEFC-7225-9B91C8681448}"/>
              </a:ext>
            </a:extLst>
          </p:cNvPr>
          <p:cNvSpPr>
            <a:spLocks noGrp="1"/>
          </p:cNvSpPr>
          <p:nvPr>
            <p:ph idx="1"/>
          </p:nvPr>
        </p:nvSpPr>
        <p:spPr>
          <a:xfrm>
            <a:off x="0" y="-1"/>
            <a:ext cx="6858000" cy="10058401"/>
          </a:xfrm>
          <a:pattFill prst="solidDmnd">
            <a:fgClr>
              <a:srgbClr val="FFFF00"/>
            </a:fgClr>
            <a:bgClr>
              <a:schemeClr val="bg1"/>
            </a:bgClr>
          </a:pattFill>
        </p:spPr>
        <p:txBody>
          <a:bodyPr>
            <a:normAutofit/>
          </a:bodyPr>
          <a:lstStyle/>
          <a:p>
            <a:pPr marL="0" indent="0">
              <a:buNone/>
              <a:tabLst>
                <a:tab pos="3944938" algn="l"/>
              </a:tabLst>
            </a:pPr>
            <a:r>
              <a:rPr lang="en-US" sz="2500" b="1" dirty="0">
                <a:highlight>
                  <a:srgbClr val="00FF00"/>
                </a:highlight>
              </a:rPr>
              <a:t>HOW IT ACTUALLY WORKS:</a:t>
            </a:r>
          </a:p>
          <a:p>
            <a:pPr marL="0" indent="0">
              <a:buNone/>
              <a:tabLst>
                <a:tab pos="3944938" algn="l"/>
              </a:tabLst>
            </a:pPr>
            <a:r>
              <a:rPr lang="en-US" sz="2700" i="1" dirty="0"/>
              <a:t>1. User Opens App</a:t>
            </a:r>
          </a:p>
          <a:p>
            <a:pPr marL="0" indent="0">
              <a:buNone/>
              <a:tabLst>
                <a:tab pos="3944938" algn="l"/>
              </a:tabLst>
            </a:pPr>
            <a:r>
              <a:rPr lang="en-US" sz="2700" i="1" dirty="0"/>
              <a:t>2. Browse India Map / List of States</a:t>
            </a:r>
          </a:p>
          <a:p>
            <a:pPr marL="0" indent="0">
              <a:buNone/>
              <a:tabLst>
                <a:tab pos="3944938" algn="l"/>
              </a:tabLst>
            </a:pPr>
            <a:r>
              <a:rPr lang="en-US" sz="2700" i="1" dirty="0"/>
              <a:t>3. Select a State</a:t>
            </a:r>
          </a:p>
          <a:p>
            <a:pPr marL="0" indent="0">
              <a:buNone/>
              <a:tabLst>
                <a:tab pos="3944938" algn="l"/>
              </a:tabLst>
            </a:pPr>
            <a:r>
              <a:rPr lang="en-US" sz="2700" i="1" dirty="0"/>
              <a:t>4. View Heritage Food Details                                            </a:t>
            </a:r>
          </a:p>
          <a:p>
            <a:pPr marL="0" indent="0">
              <a:buNone/>
              <a:tabLst>
                <a:tab pos="3944938" algn="l"/>
              </a:tabLst>
            </a:pPr>
            <a:r>
              <a:rPr lang="en-US" sz="2700" i="1" dirty="0"/>
              <a:t>                  *Name</a:t>
            </a:r>
          </a:p>
          <a:p>
            <a:pPr marL="0" indent="0">
              <a:buNone/>
              <a:tabLst>
                <a:tab pos="3944938" algn="l"/>
              </a:tabLst>
            </a:pPr>
            <a:r>
              <a:rPr lang="en-US" sz="2700" i="1" dirty="0"/>
              <a:t>                  *History &amp; Cultural Significance</a:t>
            </a:r>
          </a:p>
          <a:p>
            <a:pPr marL="0" indent="0">
              <a:buNone/>
              <a:tabLst>
                <a:tab pos="3944938" algn="l"/>
              </a:tabLst>
            </a:pPr>
            <a:r>
              <a:rPr lang="en-US" sz="2700" i="1" dirty="0"/>
              <a:t>                  *Ingredients</a:t>
            </a:r>
          </a:p>
          <a:p>
            <a:pPr marL="0" indent="0">
              <a:buNone/>
              <a:tabLst>
                <a:tab pos="3944938" algn="l"/>
              </a:tabLst>
            </a:pPr>
            <a:r>
              <a:rPr lang="en-US" sz="2700" i="1" dirty="0"/>
              <a:t>                 *Recipe / Video</a:t>
            </a:r>
          </a:p>
          <a:p>
            <a:pPr marL="0" indent="0">
              <a:buNone/>
              <a:tabLst>
                <a:tab pos="3944938" algn="l"/>
              </a:tabLst>
            </a:pPr>
            <a:r>
              <a:rPr lang="en-US" sz="2700" i="1" dirty="0"/>
              <a:t>5. Interactive Features</a:t>
            </a:r>
          </a:p>
          <a:p>
            <a:pPr marL="0" indent="0">
              <a:buNone/>
              <a:tabLst>
                <a:tab pos="3944938" algn="l"/>
              </a:tabLst>
            </a:pPr>
            <a:r>
              <a:rPr lang="en-US" sz="2700" i="1" dirty="0"/>
              <a:t>                 *Rate &amp; Review</a:t>
            </a:r>
          </a:p>
          <a:p>
            <a:pPr marL="0" indent="0">
              <a:buNone/>
              <a:tabLst>
                <a:tab pos="3944938" algn="l"/>
              </a:tabLst>
            </a:pPr>
            <a:r>
              <a:rPr lang="en-US" sz="2700" i="1" dirty="0"/>
              <a:t>                 *Share</a:t>
            </a:r>
          </a:p>
          <a:p>
            <a:pPr marL="0" indent="0">
              <a:buNone/>
              <a:tabLst>
                <a:tab pos="3944938" algn="l"/>
              </a:tabLst>
            </a:pPr>
            <a:r>
              <a:rPr lang="en-US" sz="2700" i="1" dirty="0"/>
              <a:t>                *Add to Favorites</a:t>
            </a:r>
          </a:p>
          <a:p>
            <a:pPr marL="0" indent="0">
              <a:buNone/>
              <a:tabLst>
                <a:tab pos="3944938" algn="l"/>
              </a:tabLst>
            </a:pPr>
            <a:r>
              <a:rPr lang="en-US" sz="2700" i="1" dirty="0"/>
              <a:t>6. Personalization</a:t>
            </a:r>
          </a:p>
          <a:p>
            <a:pPr marL="0" indent="0">
              <a:buNone/>
              <a:tabLst>
                <a:tab pos="3944938" algn="l"/>
              </a:tabLst>
            </a:pPr>
            <a:r>
              <a:rPr lang="en-US" sz="2700" i="1" dirty="0"/>
              <a:t>                *Recommendations</a:t>
            </a:r>
          </a:p>
          <a:p>
            <a:pPr marL="0" indent="0">
              <a:buNone/>
              <a:tabLst>
                <a:tab pos="3944938" algn="l"/>
              </a:tabLst>
            </a:pPr>
            <a:r>
              <a:rPr lang="en-US" sz="2700" i="1" dirty="0"/>
              <a:t>                *Badges / Achievements</a:t>
            </a:r>
          </a:p>
          <a:p>
            <a:pPr marL="0" indent="0">
              <a:buNone/>
              <a:tabLst>
                <a:tab pos="3944938" algn="l"/>
              </a:tabLst>
            </a:pPr>
            <a:r>
              <a:rPr lang="en-US" sz="2700" i="1" dirty="0"/>
              <a:t>7. Educational Content</a:t>
            </a:r>
          </a:p>
          <a:p>
            <a:pPr marL="0" indent="0">
              <a:buNone/>
              <a:tabLst>
                <a:tab pos="3944938" algn="l"/>
              </a:tabLst>
            </a:pPr>
            <a:r>
              <a:rPr lang="en-US" sz="2700" i="1" dirty="0"/>
              <a:t>                  *Fun Facts</a:t>
            </a:r>
          </a:p>
          <a:p>
            <a:pPr marL="0" indent="0">
              <a:buNone/>
              <a:tabLst>
                <a:tab pos="3944938" algn="l"/>
              </a:tabLst>
            </a:pPr>
            <a:r>
              <a:rPr lang="en-US" sz="2700" i="1" dirty="0"/>
              <a:t>                  *Stories &amp; Traditions</a:t>
            </a:r>
          </a:p>
        </p:txBody>
      </p:sp>
    </p:spTree>
    <p:extLst>
      <p:ext uri="{BB962C8B-B14F-4D97-AF65-F5344CB8AC3E}">
        <p14:creationId xmlns:p14="http://schemas.microsoft.com/office/powerpoint/2010/main" val="2422195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E3947-286B-C128-8964-E9A0246FB41B}"/>
              </a:ext>
            </a:extLst>
          </p:cNvPr>
          <p:cNvSpPr>
            <a:spLocks noGrp="1"/>
          </p:cNvSpPr>
          <p:nvPr>
            <p:ph type="title"/>
          </p:nvPr>
        </p:nvSpPr>
        <p:spPr>
          <a:xfrm>
            <a:off x="0" y="0"/>
            <a:ext cx="5036024" cy="232012"/>
          </a:xfrm>
        </p:spPr>
        <p:txBody>
          <a:bodyPr>
            <a:normAutofit fontScale="90000"/>
          </a:bodyPr>
          <a:lstStyle/>
          <a:p>
            <a:br>
              <a:rPr lang="en-US" sz="4500" b="1" dirty="0">
                <a:highlight>
                  <a:srgbClr val="00FF00"/>
                </a:highlight>
              </a:rPr>
            </a:br>
            <a:r>
              <a:rPr lang="en-US" sz="4500" b="1" dirty="0"/>
              <a:t>OUR ROADMAP:</a:t>
            </a:r>
          </a:p>
        </p:txBody>
      </p:sp>
      <p:sp>
        <p:nvSpPr>
          <p:cNvPr id="3" name="Content Placeholder 2">
            <a:extLst>
              <a:ext uri="{FF2B5EF4-FFF2-40B4-BE49-F238E27FC236}">
                <a16:creationId xmlns:a16="http://schemas.microsoft.com/office/drawing/2014/main" id="{5CCC7AC4-7CA5-52CB-8D93-F08703EEA9C6}"/>
              </a:ext>
            </a:extLst>
          </p:cNvPr>
          <p:cNvSpPr>
            <a:spLocks noGrp="1"/>
          </p:cNvSpPr>
          <p:nvPr>
            <p:ph idx="1"/>
          </p:nvPr>
        </p:nvSpPr>
        <p:spPr>
          <a:xfrm>
            <a:off x="0" y="709684"/>
            <a:ext cx="6858000" cy="9196316"/>
          </a:xfrm>
        </p:spPr>
        <p:txBody>
          <a:bodyPr>
            <a:normAutofit fontScale="92500" lnSpcReduction="20000"/>
          </a:bodyPr>
          <a:lstStyle/>
          <a:p>
            <a:pPr marL="0" indent="0">
              <a:buNone/>
            </a:pPr>
            <a:r>
              <a:rPr lang="en-US" b="1" dirty="0">
                <a:highlight>
                  <a:srgbClr val="00FF00"/>
                </a:highlight>
              </a:rPr>
              <a:t>WHAT WE BUILT SO FAR?</a:t>
            </a:r>
          </a:p>
          <a:p>
            <a:pPr marL="0" indent="0">
              <a:buNone/>
            </a:pPr>
            <a:r>
              <a:rPr lang="en-US" sz="2400" i="1" dirty="0"/>
              <a:t>1</a:t>
            </a:r>
            <a:r>
              <a:rPr lang="en-US" sz="2500" i="1" dirty="0"/>
              <a:t>. We are researching India's heritage foods and cultural stories.</a:t>
            </a:r>
          </a:p>
          <a:p>
            <a:pPr marL="0" indent="0">
              <a:buNone/>
            </a:pPr>
            <a:r>
              <a:rPr lang="en-US" sz="2500" i="1" dirty="0"/>
              <a:t>2. Planned target users: tourists, young consumers, and local vendors.</a:t>
            </a:r>
          </a:p>
          <a:p>
            <a:pPr marL="0" indent="0">
              <a:buNone/>
            </a:pPr>
            <a:r>
              <a:rPr lang="en-US" sz="2500" b="1" dirty="0">
                <a:highlight>
                  <a:srgbClr val="00FF00"/>
                </a:highlight>
              </a:rPr>
              <a:t>OUR NEXT 30-60-90 DAYS PLAN:</a:t>
            </a:r>
          </a:p>
          <a:p>
            <a:pPr marL="0" indent="0">
              <a:buNone/>
            </a:pPr>
            <a:r>
              <a:rPr lang="en-US" sz="2500" b="1" dirty="0">
                <a:highlight>
                  <a:srgbClr val="FFFF00"/>
                </a:highlight>
              </a:rPr>
              <a:t> </a:t>
            </a:r>
            <a:r>
              <a:rPr lang="en-US" sz="2400" b="1" dirty="0">
                <a:highlight>
                  <a:srgbClr val="FFFF00"/>
                </a:highlight>
              </a:rPr>
              <a:t>30 DAYS</a:t>
            </a:r>
          </a:p>
          <a:p>
            <a:r>
              <a:rPr lang="en-US" sz="2500" i="1" dirty="0"/>
              <a:t>. Finalize and refine the app wireframes and user flow.</a:t>
            </a:r>
          </a:p>
          <a:p>
            <a:r>
              <a:rPr lang="en-US" sz="2500" i="1" dirty="0"/>
              <a:t>Begin developing</a:t>
            </a:r>
          </a:p>
          <a:p>
            <a:pPr marL="0" indent="0">
              <a:buNone/>
            </a:pPr>
            <a:r>
              <a:rPr lang="en-US" sz="2400" b="1" dirty="0">
                <a:highlight>
                  <a:srgbClr val="FFFF00"/>
                </a:highlight>
              </a:rPr>
              <a:t>60 DAYS</a:t>
            </a:r>
          </a:p>
          <a:p>
            <a:r>
              <a:rPr lang="en-US" sz="2500" i="1" dirty="0"/>
              <a:t>Develop a working prototype based on wireframes.</a:t>
            </a:r>
          </a:p>
          <a:p>
            <a:r>
              <a:rPr lang="en-US" sz="2500" i="1" dirty="0"/>
              <a:t>Upload sample dishes and vendor listings for 5-6 states.</a:t>
            </a:r>
          </a:p>
          <a:p>
            <a:r>
              <a:rPr lang="en-US" sz="2500" i="1" dirty="0"/>
              <a:t>Implement basic interactions: map navigation, dish details, favorites.</a:t>
            </a:r>
          </a:p>
          <a:p>
            <a:r>
              <a:rPr lang="en-US" sz="2500" i="1" dirty="0"/>
              <a:t>Start testing user flow and collecting feedback.</a:t>
            </a:r>
          </a:p>
          <a:p>
            <a:r>
              <a:rPr lang="en-US" sz="2500" i="1" dirty="0"/>
              <a:t>Refine UI/UX design based on initial tests.</a:t>
            </a:r>
          </a:p>
          <a:p>
            <a:pPr marL="0" indent="0">
              <a:buNone/>
            </a:pPr>
            <a:r>
              <a:rPr lang="en-US" sz="2400" b="1" dirty="0">
                <a:highlight>
                  <a:srgbClr val="FFFF00"/>
                </a:highlight>
              </a:rPr>
              <a:t>90</a:t>
            </a:r>
            <a:r>
              <a:rPr lang="en-US" sz="2500" b="1" dirty="0">
                <a:highlight>
                  <a:srgbClr val="FFFF00"/>
                </a:highlight>
              </a:rPr>
              <a:t> </a:t>
            </a:r>
            <a:r>
              <a:rPr lang="en-US" sz="2400" b="1" dirty="0">
                <a:highlight>
                  <a:srgbClr val="FFFF00"/>
                </a:highlight>
              </a:rPr>
              <a:t>DAYS</a:t>
            </a:r>
          </a:p>
          <a:p>
            <a:r>
              <a:rPr lang="en-US" sz="2500" i="1" dirty="0"/>
              <a:t>Complete full app prototype with multi-state dishes and vendor listings.</a:t>
            </a:r>
          </a:p>
          <a:p>
            <a:r>
              <a:rPr lang="en-US" sz="2500" i="1" dirty="0"/>
              <a:t>Implement advanced features: search, filters, cultural stories, and gallery.</a:t>
            </a:r>
          </a:p>
          <a:p>
            <a:r>
              <a:rPr lang="en-US" sz="2500" i="1" dirty="0"/>
              <a:t>Conduct user testing and refine UI/UX based on feedback.</a:t>
            </a:r>
          </a:p>
          <a:p>
            <a:r>
              <a:rPr lang="en-US" sz="2500" i="1" dirty="0"/>
              <a:t>Prepare for demo/presentation, including screenshots and interactive flow.</a:t>
            </a:r>
          </a:p>
          <a:p>
            <a:r>
              <a:rPr lang="en-US" sz="2500" i="1" dirty="0"/>
              <a:t>Plan for scalability: vendor onboarding, regional expansion, and marketing strategy.</a:t>
            </a:r>
            <a:endParaRPr lang="en-US" sz="2500" i="1" dirty="0">
              <a:highlight>
                <a:srgbClr val="FFFF00"/>
              </a:highlight>
            </a:endParaRPr>
          </a:p>
        </p:txBody>
      </p:sp>
    </p:spTree>
    <p:extLst>
      <p:ext uri="{BB962C8B-B14F-4D97-AF65-F5344CB8AC3E}">
        <p14:creationId xmlns:p14="http://schemas.microsoft.com/office/powerpoint/2010/main" val="2488011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8EB09-D8F4-AFF1-5991-0187CBA0A9E7}"/>
              </a:ext>
            </a:extLst>
          </p:cNvPr>
          <p:cNvSpPr>
            <a:spLocks noGrp="1"/>
          </p:cNvSpPr>
          <p:nvPr>
            <p:ph type="title"/>
          </p:nvPr>
        </p:nvSpPr>
        <p:spPr>
          <a:xfrm>
            <a:off x="0" y="-614150"/>
            <a:ext cx="6045959" cy="1746913"/>
          </a:xfrm>
        </p:spPr>
        <p:txBody>
          <a:bodyPr>
            <a:normAutofit/>
          </a:bodyPr>
          <a:lstStyle/>
          <a:p>
            <a:r>
              <a:rPr lang="en-US" sz="4000" b="1" dirty="0">
                <a:latin typeface="Algerian" panose="04020705040A02060702" pitchFamily="82" charset="0"/>
              </a:rPr>
              <a:t>TEAMS</a:t>
            </a:r>
            <a:r>
              <a:rPr lang="en-US" sz="4000" b="1" dirty="0">
                <a:latin typeface="Bahnschrift SemiCondensed" panose="020B0502040204020203" pitchFamily="34" charset="0"/>
              </a:rPr>
              <a:t> </a:t>
            </a:r>
            <a:r>
              <a:rPr lang="en-US" sz="4000" b="1" dirty="0">
                <a:latin typeface="Algerian" panose="04020705040A02060702" pitchFamily="82" charset="0"/>
              </a:rPr>
              <a:t>&amp;</a:t>
            </a:r>
            <a:r>
              <a:rPr lang="en-US" sz="4000" b="1" dirty="0">
                <a:latin typeface="Bahnschrift SemiCondensed" panose="020B0502040204020203" pitchFamily="34" charset="0"/>
              </a:rPr>
              <a:t> </a:t>
            </a:r>
            <a:r>
              <a:rPr lang="en-US" sz="4000" b="1" dirty="0">
                <a:latin typeface="Algerian" panose="04020705040A02060702" pitchFamily="82" charset="0"/>
              </a:rPr>
              <a:t>ROLES</a:t>
            </a:r>
            <a:r>
              <a:rPr lang="en-US" sz="4000" b="1" dirty="0">
                <a:latin typeface="Bahnschrift SemiCondensed" panose="020B0502040204020203" pitchFamily="34" charset="0"/>
              </a:rPr>
              <a:t>:-</a:t>
            </a:r>
          </a:p>
        </p:txBody>
      </p:sp>
      <p:sp>
        <p:nvSpPr>
          <p:cNvPr id="3" name="Content Placeholder 2">
            <a:extLst>
              <a:ext uri="{FF2B5EF4-FFF2-40B4-BE49-F238E27FC236}">
                <a16:creationId xmlns:a16="http://schemas.microsoft.com/office/drawing/2014/main" id="{D04CA282-17D0-26E3-1708-9FA47BC128CB}"/>
              </a:ext>
            </a:extLst>
          </p:cNvPr>
          <p:cNvSpPr>
            <a:spLocks noGrp="1"/>
          </p:cNvSpPr>
          <p:nvPr>
            <p:ph idx="1"/>
          </p:nvPr>
        </p:nvSpPr>
        <p:spPr>
          <a:xfrm>
            <a:off x="0" y="668740"/>
            <a:ext cx="6858000" cy="9237260"/>
          </a:xfrm>
        </p:spPr>
        <p:txBody>
          <a:bodyPr>
            <a:normAutofit/>
          </a:bodyPr>
          <a:lstStyle/>
          <a:p>
            <a:pPr marL="0" indent="0">
              <a:buNone/>
            </a:pPr>
            <a:r>
              <a:rPr lang="en-US" sz="3200" b="1" dirty="0">
                <a:latin typeface="Arial Rounded MT Bold" panose="020F0704030504030204" pitchFamily="34" charset="0"/>
              </a:rPr>
              <a:t>OUR TEAM NAME </a:t>
            </a:r>
            <a:r>
              <a:rPr lang="en-US" sz="5400" b="1" dirty="0"/>
              <a:t>“ </a:t>
            </a:r>
            <a:r>
              <a:rPr lang="en-US" sz="5400" b="1" dirty="0">
                <a:highlight>
                  <a:srgbClr val="00FFFF"/>
                </a:highlight>
                <a:latin typeface="Algerian" panose="04020705040A02060702" pitchFamily="82" charset="0"/>
              </a:rPr>
              <a:t>YUM </a:t>
            </a:r>
            <a:r>
              <a:rPr lang="en-US" sz="5400" b="1" dirty="0"/>
              <a:t>”</a:t>
            </a:r>
          </a:p>
          <a:p>
            <a:pPr marL="457200" indent="-457200">
              <a:buAutoNum type="arabicPeriod"/>
            </a:pPr>
            <a:r>
              <a:rPr lang="en-US" sz="2400" dirty="0">
                <a:highlight>
                  <a:srgbClr val="C0C0C0"/>
                </a:highlight>
                <a:latin typeface="Arial Rounded MT Bold" panose="020F0704030504030204" pitchFamily="34" charset="0"/>
              </a:rPr>
              <a:t>MADHANIKA.M</a:t>
            </a:r>
            <a:r>
              <a:rPr lang="en-US" sz="2400" dirty="0"/>
              <a:t> </a:t>
            </a:r>
            <a:r>
              <a:rPr lang="en-US" sz="2600" dirty="0">
                <a:latin typeface="Brush Script MT" panose="03060802040406070304" pitchFamily="66" charset="0"/>
              </a:rPr>
              <a:t>--&gt;&gt;</a:t>
            </a:r>
            <a:r>
              <a:rPr lang="en-US" sz="2800" dirty="0">
                <a:latin typeface="Forte" panose="03060902040502070203" pitchFamily="66" charset="0"/>
              </a:rPr>
              <a:t>Team Leader &amp; </a:t>
            </a:r>
            <a:r>
              <a:rPr lang="en-US" sz="2800" dirty="0" err="1">
                <a:latin typeface="Forte" panose="03060902040502070203" pitchFamily="66" charset="0"/>
              </a:rPr>
              <a:t>Reserch</a:t>
            </a:r>
            <a:r>
              <a:rPr lang="en-US" sz="2800" dirty="0">
                <a:latin typeface="Forte" panose="03060902040502070203" pitchFamily="66" charset="0"/>
              </a:rPr>
              <a:t> Lead.</a:t>
            </a:r>
          </a:p>
          <a:p>
            <a:pPr marL="457200" indent="-457200">
              <a:buAutoNum type="arabicPeriod"/>
            </a:pPr>
            <a:r>
              <a:rPr lang="en-US" sz="2400" dirty="0">
                <a:highlight>
                  <a:srgbClr val="C0C0C0"/>
                </a:highlight>
                <a:latin typeface="Arial Rounded MT Bold" panose="020F0704030504030204" pitchFamily="34" charset="0"/>
              </a:rPr>
              <a:t>MAMTHA.D</a:t>
            </a:r>
            <a:r>
              <a:rPr lang="en-US" sz="2400" dirty="0">
                <a:highlight>
                  <a:srgbClr val="C0C0C0"/>
                </a:highlight>
              </a:rPr>
              <a:t> </a:t>
            </a:r>
            <a:r>
              <a:rPr lang="en-US" sz="2600" dirty="0">
                <a:latin typeface="Brush Script MT" panose="03060802040406070304" pitchFamily="66" charset="0"/>
                <a:sym typeface="Wingdings" panose="05000000000000000000" pitchFamily="2" charset="2"/>
              </a:rPr>
              <a:t>--&gt;&gt; </a:t>
            </a:r>
            <a:r>
              <a:rPr lang="en-US" sz="2800" dirty="0">
                <a:latin typeface="Forte" panose="03060902040502070203" pitchFamily="66" charset="0"/>
                <a:sym typeface="Wingdings" panose="05000000000000000000" pitchFamily="2" charset="2"/>
              </a:rPr>
              <a:t>UI/UX &amp; </a:t>
            </a:r>
            <a:r>
              <a:rPr lang="en-US" sz="2800" dirty="0" err="1">
                <a:latin typeface="Forte" panose="03060902040502070203" pitchFamily="66" charset="0"/>
                <a:sym typeface="Wingdings" panose="05000000000000000000" pitchFamily="2" charset="2"/>
              </a:rPr>
              <a:t>Desgin</a:t>
            </a:r>
            <a:r>
              <a:rPr lang="en-US" sz="2800" dirty="0">
                <a:latin typeface="Forte" panose="03060902040502070203" pitchFamily="66" charset="0"/>
                <a:sym typeface="Wingdings" panose="05000000000000000000" pitchFamily="2" charset="2"/>
              </a:rPr>
              <a:t> Lead.</a:t>
            </a:r>
          </a:p>
          <a:p>
            <a:pPr marL="457200" indent="-457200">
              <a:buAutoNum type="arabicPeriod"/>
            </a:pPr>
            <a:r>
              <a:rPr lang="en-US" sz="2400" dirty="0">
                <a:highlight>
                  <a:srgbClr val="C0C0C0"/>
                </a:highlight>
                <a:latin typeface="Arial Rounded MT Bold" panose="020F0704030504030204" pitchFamily="34" charset="0"/>
                <a:sym typeface="Wingdings" panose="05000000000000000000" pitchFamily="2" charset="2"/>
              </a:rPr>
              <a:t>JEEVA PRIYA.V </a:t>
            </a:r>
            <a:r>
              <a:rPr lang="en-US" sz="2400" dirty="0">
                <a:sym typeface="Wingdings" panose="05000000000000000000" pitchFamily="2" charset="2"/>
              </a:rPr>
              <a:t>--&gt;&gt; </a:t>
            </a:r>
            <a:r>
              <a:rPr lang="en-US" sz="2800" dirty="0">
                <a:latin typeface="Forte" panose="03060902040502070203" pitchFamily="66" charset="0"/>
                <a:sym typeface="Wingdings" panose="05000000000000000000" pitchFamily="2" charset="2"/>
              </a:rPr>
              <a:t>Frontend Developer.</a:t>
            </a:r>
          </a:p>
          <a:p>
            <a:pPr marL="457200" indent="-457200">
              <a:buAutoNum type="arabicPeriod"/>
            </a:pPr>
            <a:r>
              <a:rPr lang="en-US" sz="2400" dirty="0">
                <a:highlight>
                  <a:srgbClr val="C0C0C0"/>
                </a:highlight>
                <a:latin typeface="Arial Rounded MT Bold" panose="020F0704030504030204" pitchFamily="34" charset="0"/>
                <a:sym typeface="Wingdings" panose="05000000000000000000" pitchFamily="2" charset="2"/>
              </a:rPr>
              <a:t>ASHWINI.P </a:t>
            </a:r>
            <a:r>
              <a:rPr lang="en-US" sz="2800" dirty="0">
                <a:latin typeface="Forte" panose="03060902040502070203" pitchFamily="66" charset="0"/>
                <a:sym typeface="Wingdings" panose="05000000000000000000" pitchFamily="2" charset="2"/>
              </a:rPr>
              <a:t>--&gt;&gt; Backend Developer &amp; Database Lead.</a:t>
            </a:r>
          </a:p>
          <a:p>
            <a:pPr marL="457200" indent="-457200">
              <a:buAutoNum type="arabicPeriod"/>
            </a:pPr>
            <a:r>
              <a:rPr lang="en-US" sz="2400" dirty="0">
                <a:highlight>
                  <a:srgbClr val="C0C0C0"/>
                </a:highlight>
                <a:latin typeface="Arial Rounded MT Bold" panose="020F0704030504030204" pitchFamily="34" charset="0"/>
                <a:sym typeface="Wingdings" panose="05000000000000000000" pitchFamily="2" charset="2"/>
              </a:rPr>
              <a:t>SHALINI.J</a:t>
            </a:r>
            <a:r>
              <a:rPr lang="en-US" sz="2400" dirty="0">
                <a:latin typeface="Arial Rounded MT Bold" panose="020F0704030504030204" pitchFamily="34" charset="0"/>
                <a:sym typeface="Wingdings" panose="05000000000000000000" pitchFamily="2" charset="2"/>
              </a:rPr>
              <a:t> </a:t>
            </a:r>
            <a:r>
              <a:rPr lang="en-US" sz="2800" dirty="0">
                <a:sym typeface="Wingdings" panose="05000000000000000000" pitchFamily="2" charset="2"/>
              </a:rPr>
              <a:t>--&gt;&gt; </a:t>
            </a:r>
            <a:r>
              <a:rPr lang="en-US" sz="2800" dirty="0">
                <a:latin typeface="Forte" panose="03060902040502070203" pitchFamily="66" charset="0"/>
                <a:sym typeface="Wingdings" panose="05000000000000000000" pitchFamily="2" charset="2"/>
              </a:rPr>
              <a:t>Marketing &amp; Content Lead.</a:t>
            </a:r>
          </a:p>
          <a:p>
            <a:pPr marL="0" indent="0">
              <a:buNone/>
            </a:pPr>
            <a:endParaRPr lang="en-US" sz="2800" dirty="0">
              <a:sym typeface="Wingdings" panose="05000000000000000000" pitchFamily="2" charset="2"/>
            </a:endParaRPr>
          </a:p>
          <a:p>
            <a:pPr marL="0" indent="0">
              <a:buNone/>
            </a:pPr>
            <a:r>
              <a:rPr lang="en-US" sz="2800" b="1" dirty="0">
                <a:highlight>
                  <a:srgbClr val="00FF00"/>
                </a:highlight>
                <a:sym typeface="Wingdings" panose="05000000000000000000" pitchFamily="2" charset="2"/>
              </a:rPr>
              <a:t>WHY OUR TEAM IS CAPABLE OF EXECUTING THE PROJECT?</a:t>
            </a:r>
          </a:p>
          <a:p>
            <a:r>
              <a:rPr lang="en-US" sz="2600" i="1" dirty="0"/>
              <a:t>Diverse skills: research, design, development, content, and marketing.</a:t>
            </a:r>
          </a:p>
          <a:p>
            <a:r>
              <a:rPr lang="en-US" sz="2600" i="1" dirty="0"/>
              <a:t>Passionate about Indian heritage foods and culture.</a:t>
            </a:r>
          </a:p>
          <a:p>
            <a:r>
              <a:rPr lang="en-US" sz="2600" i="1" dirty="0"/>
              <a:t>Strong coordination and teamwork for efficient execution.</a:t>
            </a:r>
          </a:p>
          <a:p>
            <a:r>
              <a:rPr lang="en-US" sz="2600" i="1" dirty="0"/>
              <a:t>Innovative mindset ready to build and scale the platform.</a:t>
            </a:r>
          </a:p>
        </p:txBody>
      </p:sp>
    </p:spTree>
    <p:extLst>
      <p:ext uri="{BB962C8B-B14F-4D97-AF65-F5344CB8AC3E}">
        <p14:creationId xmlns:p14="http://schemas.microsoft.com/office/powerpoint/2010/main" val="3974038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DAA8-A92E-1CB1-569F-B616A681EC11}"/>
              </a:ext>
            </a:extLst>
          </p:cNvPr>
          <p:cNvSpPr>
            <a:spLocks noGrp="1"/>
          </p:cNvSpPr>
          <p:nvPr>
            <p:ph type="title"/>
          </p:nvPr>
        </p:nvSpPr>
        <p:spPr>
          <a:xfrm>
            <a:off x="0" y="-368489"/>
            <a:ext cx="2115403" cy="1352209"/>
          </a:xfrm>
        </p:spPr>
        <p:txBody>
          <a:bodyPr>
            <a:normAutofit/>
          </a:bodyPr>
          <a:lstStyle/>
          <a:p>
            <a:r>
              <a:rPr lang="en-US" sz="4500" b="1" dirty="0"/>
              <a:t>ASK:</a:t>
            </a:r>
          </a:p>
        </p:txBody>
      </p:sp>
      <p:sp>
        <p:nvSpPr>
          <p:cNvPr id="3" name="Content Placeholder 2">
            <a:extLst>
              <a:ext uri="{FF2B5EF4-FFF2-40B4-BE49-F238E27FC236}">
                <a16:creationId xmlns:a16="http://schemas.microsoft.com/office/drawing/2014/main" id="{E251E351-3049-8FFE-A555-7E32FA75E8D1}"/>
              </a:ext>
            </a:extLst>
          </p:cNvPr>
          <p:cNvSpPr>
            <a:spLocks noGrp="1"/>
          </p:cNvSpPr>
          <p:nvPr>
            <p:ph idx="1"/>
          </p:nvPr>
        </p:nvSpPr>
        <p:spPr>
          <a:xfrm>
            <a:off x="0" y="600501"/>
            <a:ext cx="6858000" cy="9305499"/>
          </a:xfrm>
        </p:spPr>
        <p:txBody>
          <a:bodyPr>
            <a:normAutofit/>
          </a:bodyPr>
          <a:lstStyle/>
          <a:p>
            <a:pPr marL="0" indent="0">
              <a:buNone/>
            </a:pPr>
            <a:r>
              <a:rPr lang="en-US" sz="2600" b="1" dirty="0">
                <a:highlight>
                  <a:srgbClr val="00FF00"/>
                </a:highlight>
              </a:rPr>
              <a:t>WHAT DO WE WANT FROM JUDGES/AUDIENCE?</a:t>
            </a:r>
          </a:p>
          <a:p>
            <a:r>
              <a:rPr lang="en-US" sz="2500" i="1" dirty="0"/>
              <a:t>Feedback &amp; Guidance: Improve </a:t>
            </a:r>
            <a:r>
              <a:rPr lang="en-US" sz="2500" i="1" dirty="0" err="1"/>
              <a:t>features,design</a:t>
            </a:r>
            <a:r>
              <a:rPr lang="en-US" sz="2500" i="1" dirty="0"/>
              <a:t>, and usability.</a:t>
            </a:r>
          </a:p>
          <a:p>
            <a:r>
              <a:rPr lang="en-US" sz="2500" i="1" dirty="0"/>
              <a:t>Recognition: Appreciate our innovation and effort.</a:t>
            </a:r>
          </a:p>
          <a:p>
            <a:r>
              <a:rPr lang="en-US" sz="2500" i="1" dirty="0"/>
              <a:t>Networking: Connect with mentors, food experts, and collaborators.</a:t>
            </a:r>
          </a:p>
          <a:p>
            <a:pPr marL="0" indent="0">
              <a:buNone/>
            </a:pPr>
            <a:r>
              <a:rPr lang="en-US" sz="2500" b="1" dirty="0">
                <a:highlight>
                  <a:srgbClr val="00FF00"/>
                </a:highlight>
              </a:rPr>
              <a:t>NEEDS:</a:t>
            </a:r>
          </a:p>
          <a:p>
            <a:r>
              <a:rPr lang="en-US" sz="2400" b="1" dirty="0">
                <a:highlight>
                  <a:srgbClr val="008080"/>
                </a:highlight>
              </a:rPr>
              <a:t>Funding</a:t>
            </a:r>
            <a:r>
              <a:rPr lang="en-US" sz="2500" i="1" dirty="0"/>
              <a:t> - Small seed support (~₹50k-₹1L) to develop a working prototype and add initial content.</a:t>
            </a:r>
          </a:p>
          <a:p>
            <a:r>
              <a:rPr lang="en-US" sz="2400" b="1" dirty="0">
                <a:highlight>
                  <a:srgbClr val="008080"/>
                </a:highlight>
              </a:rPr>
              <a:t>Mentorship</a:t>
            </a:r>
            <a:r>
              <a:rPr lang="en-US" sz="2500" i="1" dirty="0"/>
              <a:t> - Expert guidance on app development, UI/UX design, and heritage food research.</a:t>
            </a:r>
          </a:p>
          <a:p>
            <a:r>
              <a:rPr lang="en-US" sz="2400" b="1" dirty="0">
                <a:highlight>
                  <a:srgbClr val="008080"/>
                </a:highlight>
              </a:rPr>
              <a:t>Feedback</a:t>
            </a:r>
            <a:r>
              <a:rPr lang="en-US" sz="2500" i="1" dirty="0"/>
              <a:t> - Honest suggestions on user flow, features, and content presentation</a:t>
            </a:r>
          </a:p>
          <a:p>
            <a:r>
              <a:rPr lang="en-US" sz="2400" b="1" dirty="0">
                <a:highlight>
                  <a:srgbClr val="008080"/>
                </a:highlight>
              </a:rPr>
              <a:t>Partners</a:t>
            </a:r>
            <a:r>
              <a:rPr lang="en-US" sz="2500" i="1" dirty="0"/>
              <a:t> - Connect with local food vendors, cultural organizations, and tourism boards for authentic content.</a:t>
            </a:r>
            <a:endParaRPr lang="en-US" sz="2500" i="1" dirty="0">
              <a:highlight>
                <a:srgbClr val="00FF00"/>
              </a:highlight>
            </a:endParaRPr>
          </a:p>
        </p:txBody>
      </p:sp>
    </p:spTree>
    <p:extLst>
      <p:ext uri="{BB962C8B-B14F-4D97-AF65-F5344CB8AC3E}">
        <p14:creationId xmlns:p14="http://schemas.microsoft.com/office/powerpoint/2010/main" val="1253710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CBA1C-B790-C0B8-CD15-49423B4AD434}"/>
              </a:ext>
            </a:extLst>
          </p:cNvPr>
          <p:cNvSpPr>
            <a:spLocks noGrp="1"/>
          </p:cNvSpPr>
          <p:nvPr>
            <p:ph type="title"/>
          </p:nvPr>
        </p:nvSpPr>
        <p:spPr>
          <a:xfrm>
            <a:off x="471488" y="527405"/>
            <a:ext cx="5915025" cy="1914702"/>
          </a:xfrm>
        </p:spPr>
        <p:txBody>
          <a:bodyPr>
            <a:normAutofit/>
          </a:bodyPr>
          <a:lstStyle/>
          <a:p>
            <a:r>
              <a:rPr lang="en-US" sz="5400" dirty="0">
                <a:latin typeface="Algerian" panose="04020705040A02060702" pitchFamily="82" charset="0"/>
              </a:rPr>
              <a:t>   !!THANK YOU!!</a:t>
            </a:r>
          </a:p>
        </p:txBody>
      </p:sp>
      <p:sp>
        <p:nvSpPr>
          <p:cNvPr id="3" name="Content Placeholder 2">
            <a:extLst>
              <a:ext uri="{FF2B5EF4-FFF2-40B4-BE49-F238E27FC236}">
                <a16:creationId xmlns:a16="http://schemas.microsoft.com/office/drawing/2014/main" id="{D0F1A535-63E9-0729-67AB-056E80A50B03}"/>
              </a:ext>
            </a:extLst>
          </p:cNvPr>
          <p:cNvSpPr>
            <a:spLocks noGrp="1"/>
          </p:cNvSpPr>
          <p:nvPr>
            <p:ph idx="1"/>
          </p:nvPr>
        </p:nvSpPr>
        <p:spPr>
          <a:xfrm>
            <a:off x="471488" y="2637014"/>
            <a:ext cx="5915025" cy="6285266"/>
          </a:xfrm>
        </p:spPr>
        <p:txBody>
          <a:bodyPr>
            <a:normAutofit/>
          </a:bodyPr>
          <a:lstStyle/>
          <a:p>
            <a:pPr marL="0" indent="0">
              <a:buNone/>
            </a:pPr>
            <a:r>
              <a:rPr lang="en-US" sz="2800" b="1" dirty="0">
                <a:highlight>
                  <a:srgbClr val="00FF00"/>
                </a:highlight>
              </a:rPr>
              <a:t>CONTACT DETAILS:</a:t>
            </a:r>
          </a:p>
          <a:p>
            <a:endParaRPr lang="en-US" dirty="0"/>
          </a:p>
          <a:p>
            <a:pPr marL="0" indent="0">
              <a:buNone/>
            </a:pPr>
            <a:r>
              <a:rPr lang="en-US" dirty="0"/>
              <a:t>        </a:t>
            </a:r>
            <a:r>
              <a:rPr lang="en-US" sz="2800" b="1" dirty="0">
                <a:highlight>
                  <a:srgbClr val="FFFF00"/>
                </a:highlight>
              </a:rPr>
              <a:t>E-mail</a:t>
            </a:r>
            <a:r>
              <a:rPr lang="en-US" sz="2800" b="1" dirty="0"/>
              <a:t> : </a:t>
            </a:r>
            <a:r>
              <a:rPr lang="en-US" dirty="0">
                <a:hlinkClick r:id="rId2"/>
              </a:rPr>
              <a:t>madhanikasonu@gmail.com</a:t>
            </a:r>
            <a:r>
              <a:rPr lang="en-US" dirty="0"/>
              <a:t> </a:t>
            </a:r>
          </a:p>
          <a:p>
            <a:pPr marL="0" indent="0">
              <a:buNone/>
            </a:pPr>
            <a:endParaRPr lang="en-US" dirty="0"/>
          </a:p>
          <a:p>
            <a:pPr marL="0" indent="0">
              <a:buNone/>
            </a:pPr>
            <a:r>
              <a:rPr lang="en-US" dirty="0"/>
              <a:t>         </a:t>
            </a:r>
            <a:r>
              <a:rPr lang="en-US" sz="2800" b="1" dirty="0" err="1">
                <a:highlight>
                  <a:srgbClr val="FFFF00"/>
                </a:highlight>
              </a:rPr>
              <a:t>Linkedln</a:t>
            </a:r>
            <a:r>
              <a:rPr lang="en-US" sz="2800" b="1" dirty="0">
                <a:highlight>
                  <a:srgbClr val="FFFF00"/>
                </a:highlight>
              </a:rPr>
              <a:t> : </a:t>
            </a:r>
            <a:r>
              <a:rPr lang="en-US" dirty="0">
                <a:hlinkClick r:id="rId3"/>
              </a:rPr>
              <a:t>https://www.linkedin.com/in/madhanika-sonu-1b881237b?utm_source=share&amp;utm_campaign=share_via&amp;utm_content=profile&amp;utm_medium=android_app</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199597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l="-1000" r="-1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011CA0D-F3EE-FA09-ABC8-62627DCB0078}"/>
              </a:ext>
            </a:extLst>
          </p:cNvPr>
          <p:cNvSpPr/>
          <p:nvPr/>
        </p:nvSpPr>
        <p:spPr>
          <a:xfrm>
            <a:off x="208128" y="4491335"/>
            <a:ext cx="6441744" cy="92333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spAutoFit/>
          </a:bodyPr>
          <a:lstStyle/>
          <a:p>
            <a:pPr algn="ctr"/>
            <a:r>
              <a:rPr lang="en-US" sz="5400" b="1" dirty="0">
                <a:ln w="0"/>
                <a:solidFill>
                  <a:schemeClr val="tx1">
                    <a:lumMod val="65000"/>
                    <a:lumOff val="35000"/>
                  </a:schemeClr>
                </a:solidFill>
                <a:effectLst>
                  <a:reflection blurRad="6350" stA="53000" endA="300" endPos="35500" dir="5400000" sy="-90000" algn="bl" rotWithShape="0"/>
                </a:effectLst>
              </a:rPr>
              <a:t>THANK</a:t>
            </a:r>
            <a:r>
              <a:rPr lang="en-US"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1" dirty="0">
                <a:ln w="0"/>
                <a:solidFill>
                  <a:schemeClr val="tx1">
                    <a:lumMod val="65000"/>
                    <a:lumOff val="35000"/>
                  </a:schemeClr>
                </a:solidFill>
                <a:effectLst>
                  <a:reflection blurRad="6350" stA="53000" endA="300" endPos="35500" dir="5400000" sy="-90000" algn="bl" rotWithShape="0"/>
                </a:effectLst>
              </a:rPr>
              <a:t>YOU</a:t>
            </a:r>
          </a:p>
        </p:txBody>
      </p:sp>
      <p:pic>
        <p:nvPicPr>
          <p:cNvPr id="6" name="Picture 5">
            <a:extLst>
              <a:ext uri="{FF2B5EF4-FFF2-40B4-BE49-F238E27FC236}">
                <a16:creationId xmlns:a16="http://schemas.microsoft.com/office/drawing/2014/main" id="{B9A44AC4-0B72-0D2D-983F-7F97CF20FB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848" y="366927"/>
            <a:ext cx="2571540" cy="1875856"/>
          </a:xfrm>
          <a:prstGeom prst="rect">
            <a:avLst/>
          </a:prstGeom>
        </p:spPr>
      </p:pic>
      <p:pic>
        <p:nvPicPr>
          <p:cNvPr id="8" name="Picture 7">
            <a:extLst>
              <a:ext uri="{FF2B5EF4-FFF2-40B4-BE49-F238E27FC236}">
                <a16:creationId xmlns:a16="http://schemas.microsoft.com/office/drawing/2014/main" id="{2532AFBE-3C16-F0D6-0BB8-5A9FE6113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9000" y="366927"/>
            <a:ext cx="2958152" cy="1875856"/>
          </a:xfrm>
          <a:prstGeom prst="rect">
            <a:avLst/>
          </a:prstGeom>
        </p:spPr>
      </p:pic>
      <p:pic>
        <p:nvPicPr>
          <p:cNvPr id="10" name="Picture 9">
            <a:extLst>
              <a:ext uri="{FF2B5EF4-FFF2-40B4-BE49-F238E27FC236}">
                <a16:creationId xmlns:a16="http://schemas.microsoft.com/office/drawing/2014/main" id="{CD5749FF-E61B-A605-354D-B3B724AED3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9013" y="2350471"/>
            <a:ext cx="2640652" cy="1980489"/>
          </a:xfrm>
          <a:prstGeom prst="rect">
            <a:avLst/>
          </a:prstGeom>
        </p:spPr>
      </p:pic>
      <p:pic>
        <p:nvPicPr>
          <p:cNvPr id="12" name="Picture 11">
            <a:extLst>
              <a:ext uri="{FF2B5EF4-FFF2-40B4-BE49-F238E27FC236}">
                <a16:creationId xmlns:a16="http://schemas.microsoft.com/office/drawing/2014/main" id="{E4DE7966-6147-BC09-A406-AFE5EF78F0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594" y="7663217"/>
            <a:ext cx="2640652" cy="1980489"/>
          </a:xfrm>
          <a:prstGeom prst="rect">
            <a:avLst/>
          </a:prstGeom>
        </p:spPr>
      </p:pic>
      <p:pic>
        <p:nvPicPr>
          <p:cNvPr id="14" name="Picture 13">
            <a:extLst>
              <a:ext uri="{FF2B5EF4-FFF2-40B4-BE49-F238E27FC236}">
                <a16:creationId xmlns:a16="http://schemas.microsoft.com/office/drawing/2014/main" id="{06A46642-BC0F-8D04-3C1F-9F5ADBD8D1F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29000" y="7512900"/>
            <a:ext cx="2938630" cy="2205685"/>
          </a:xfrm>
          <a:prstGeom prst="rect">
            <a:avLst/>
          </a:prstGeom>
        </p:spPr>
      </p:pic>
      <p:pic>
        <p:nvPicPr>
          <p:cNvPr id="16" name="Picture 15">
            <a:extLst>
              <a:ext uri="{FF2B5EF4-FFF2-40B4-BE49-F238E27FC236}">
                <a16:creationId xmlns:a16="http://schemas.microsoft.com/office/drawing/2014/main" id="{B447B817-0CA5-F115-7456-7B12495EC31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87857" y="5548696"/>
            <a:ext cx="2640652" cy="1980489"/>
          </a:xfrm>
          <a:prstGeom prst="rect">
            <a:avLst/>
          </a:prstGeom>
        </p:spPr>
      </p:pic>
    </p:spTree>
    <p:extLst>
      <p:ext uri="{BB962C8B-B14F-4D97-AF65-F5344CB8AC3E}">
        <p14:creationId xmlns:p14="http://schemas.microsoft.com/office/powerpoint/2010/main" val="6306125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497</TotalTime>
  <Words>1883</Words>
  <Application>Microsoft Office PowerPoint</Application>
  <PresentationFormat>A4 Paper (210x297 mm)</PresentationFormat>
  <Paragraphs>228</Paragraphs>
  <Slides>18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Algerian</vt:lpstr>
      <vt:lpstr>Arial</vt:lpstr>
      <vt:lpstr>Arial Rounded MT Bold</vt:lpstr>
      <vt:lpstr>Bahnschrift SemiCondensed</vt:lpstr>
      <vt:lpstr>Brush Script MT</vt:lpstr>
      <vt:lpstr>Calibri</vt:lpstr>
      <vt:lpstr>Calibri Light</vt:lpstr>
      <vt:lpstr>Forte</vt:lpstr>
      <vt:lpstr>Wingdings</vt:lpstr>
      <vt:lpstr>Office Theme</vt:lpstr>
      <vt:lpstr>TASTES OF INDIA</vt:lpstr>
      <vt:lpstr>PROBLEM STATEMENT:</vt:lpstr>
      <vt:lpstr>SOLUTION OVERVIEW:</vt:lpstr>
      <vt:lpstr>PowerPoint Presentation</vt:lpstr>
      <vt:lpstr>DESIRABILITY (USERS NEED):</vt:lpstr>
      <vt:lpstr>FESEABILITY (CAN WE BUILD IT):</vt:lpstr>
      <vt:lpstr>DEVELOPMENT ARCHITECTURE OR PLAN:-</vt:lpstr>
      <vt:lpstr> VIABILITY (IS IT SUSTANIABLE):-</vt:lpstr>
      <vt:lpstr>PowerPoint Presentation</vt:lpstr>
      <vt:lpstr>PowerPoint Presentation</vt:lpstr>
      <vt:lpstr>PROTOTYPE/DEMO:</vt:lpstr>
      <vt:lpstr>PowerPoint Presentation</vt:lpstr>
      <vt:lpstr>PowerPoint Presentation</vt:lpstr>
      <vt:lpstr> OUR ROADMAP:</vt:lpstr>
      <vt:lpstr>TEAMS &amp; ROLES:-</vt:lpstr>
      <vt:lpstr>ASK:</vt:lpstr>
      <vt:lpstr>   !!THANK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5</cp:revision>
  <dcterms:created xsi:type="dcterms:W3CDTF">2025-10-12T13:06:23Z</dcterms:created>
  <dcterms:modified xsi:type="dcterms:W3CDTF">2025-10-13T07:47:54Z</dcterms:modified>
</cp:coreProperties>
</file>