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6" r:id="rId3"/>
    <p:sldId id="265" r:id="rId4"/>
    <p:sldId id="259" r:id="rId5"/>
    <p:sldId id="267" r:id="rId6"/>
    <p:sldId id="261" r:id="rId7"/>
    <p:sldId id="262" r:id="rId8"/>
    <p:sldId id="263" r:id="rId9"/>
    <p:sldId id="268" r:id="rId10"/>
  </p:sldIdLst>
  <p:sldSz cx="17610138" cy="990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D672870-F59D-4B37-BED8-48D253020FBE}">
          <p14:sldIdLst>
            <p14:sldId id="256"/>
            <p14:sldId id="266"/>
            <p14:sldId id="265"/>
            <p14:sldId id="259"/>
            <p14:sldId id="267"/>
          </p14:sldIdLst>
        </p14:section>
        <p14:section name="Untitled Section" id="{E5AC6678-5669-4DE0-8218-4A40B034F04D}">
          <p14:sldIdLst>
            <p14:sldId id="261"/>
            <p14:sldId id="262"/>
            <p14:sldId id="263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43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1267" y="1621191"/>
            <a:ext cx="13207604" cy="3448756"/>
          </a:xfrm>
        </p:spPr>
        <p:txBody>
          <a:bodyPr anchor="b"/>
          <a:lstStyle>
            <a:lvl1pPr algn="ctr">
              <a:defRPr sz="86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1267" y="5202944"/>
            <a:ext cx="13207604" cy="2391656"/>
          </a:xfrm>
        </p:spPr>
        <p:txBody>
          <a:bodyPr/>
          <a:lstStyle>
            <a:lvl1pPr marL="0" indent="0" algn="ctr">
              <a:buNone/>
              <a:defRPr sz="3467"/>
            </a:lvl1pPr>
            <a:lvl2pPr marL="660380" indent="0" algn="ctr">
              <a:buNone/>
              <a:defRPr sz="2889"/>
            </a:lvl2pPr>
            <a:lvl3pPr marL="1320759" indent="0" algn="ctr">
              <a:buNone/>
              <a:defRPr sz="2600"/>
            </a:lvl3pPr>
            <a:lvl4pPr marL="1981139" indent="0" algn="ctr">
              <a:buNone/>
              <a:defRPr sz="2311"/>
            </a:lvl4pPr>
            <a:lvl5pPr marL="2641519" indent="0" algn="ctr">
              <a:buNone/>
              <a:defRPr sz="2311"/>
            </a:lvl5pPr>
            <a:lvl6pPr marL="3301898" indent="0" algn="ctr">
              <a:buNone/>
              <a:defRPr sz="2311"/>
            </a:lvl6pPr>
            <a:lvl7pPr marL="3962278" indent="0" algn="ctr">
              <a:buNone/>
              <a:defRPr sz="2311"/>
            </a:lvl7pPr>
            <a:lvl8pPr marL="4622658" indent="0" algn="ctr">
              <a:buNone/>
              <a:defRPr sz="2311"/>
            </a:lvl8pPr>
            <a:lvl9pPr marL="5283037" indent="0" algn="ctr">
              <a:buNone/>
              <a:defRPr sz="231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6ADA-F7BC-4032-BA78-973FF0E97CD0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9723C-51FB-49F2-8EA2-0547B0BBE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33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6ADA-F7BC-4032-BA78-973FF0E97CD0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9723C-51FB-49F2-8EA2-0547B0BBE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982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1526" y="2469622"/>
            <a:ext cx="15188744" cy="4120620"/>
          </a:xfrm>
        </p:spPr>
        <p:txBody>
          <a:bodyPr anchor="b"/>
          <a:lstStyle>
            <a:lvl1pPr>
              <a:defRPr sz="86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1526" y="6629226"/>
            <a:ext cx="15188744" cy="2166937"/>
          </a:xfrm>
        </p:spPr>
        <p:txBody>
          <a:bodyPr/>
          <a:lstStyle>
            <a:lvl1pPr marL="0" indent="0">
              <a:buNone/>
              <a:defRPr sz="3467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6ADA-F7BC-4032-BA78-973FF0E97CD0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9723C-51FB-49F2-8EA2-0547B0BBE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47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0698" y="2637014"/>
            <a:ext cx="7484309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15133" y="2637014"/>
            <a:ext cx="7484309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6ADA-F7BC-4032-BA78-973FF0E97CD0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9723C-51FB-49F2-8EA2-0547B0BBE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340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992" y="527404"/>
            <a:ext cx="15188744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2991" y="2428348"/>
            <a:ext cx="7449913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2991" y="3618443"/>
            <a:ext cx="744991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915133" y="2428348"/>
            <a:ext cx="7486602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915133" y="3618443"/>
            <a:ext cx="7486602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6ADA-F7BC-4032-BA78-973FF0E97CD0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9723C-51FB-49F2-8EA2-0547B0BBE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895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6ADA-F7BC-4032-BA78-973FF0E97CD0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9723C-51FB-49F2-8EA2-0547B0BBE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34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6ADA-F7BC-4032-BA78-973FF0E97CD0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9723C-51FB-49F2-8EA2-0547B0BBE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79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993" y="660400"/>
            <a:ext cx="5679726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86604" y="1426282"/>
            <a:ext cx="8915131" cy="7039681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2993" y="2971800"/>
            <a:ext cx="5679726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80" indent="0">
              <a:buNone/>
              <a:defRPr sz="2022"/>
            </a:lvl2pPr>
            <a:lvl3pPr marL="1320759" indent="0">
              <a:buNone/>
              <a:defRPr sz="1733"/>
            </a:lvl3pPr>
            <a:lvl4pPr marL="1981139" indent="0">
              <a:buNone/>
              <a:defRPr sz="1444"/>
            </a:lvl4pPr>
            <a:lvl5pPr marL="2641519" indent="0">
              <a:buNone/>
              <a:defRPr sz="1444"/>
            </a:lvl5pPr>
            <a:lvl6pPr marL="3301898" indent="0">
              <a:buNone/>
              <a:defRPr sz="1444"/>
            </a:lvl6pPr>
            <a:lvl7pPr marL="3962278" indent="0">
              <a:buNone/>
              <a:defRPr sz="1444"/>
            </a:lvl7pPr>
            <a:lvl8pPr marL="4622658" indent="0">
              <a:buNone/>
              <a:defRPr sz="1444"/>
            </a:lvl8pPr>
            <a:lvl9pPr marL="5283037" indent="0">
              <a:buNone/>
              <a:defRPr sz="14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6ADA-F7BC-4032-BA78-973FF0E97CD0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9723C-51FB-49F2-8EA2-0547B0BBE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587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993" y="660400"/>
            <a:ext cx="5679726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6604" y="1426282"/>
            <a:ext cx="8915131" cy="7039681"/>
          </a:xfrm>
        </p:spPr>
        <p:txBody>
          <a:bodyPr anchor="t"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2993" y="2971800"/>
            <a:ext cx="5679726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80" indent="0">
              <a:buNone/>
              <a:defRPr sz="2022"/>
            </a:lvl2pPr>
            <a:lvl3pPr marL="1320759" indent="0">
              <a:buNone/>
              <a:defRPr sz="1733"/>
            </a:lvl3pPr>
            <a:lvl4pPr marL="1981139" indent="0">
              <a:buNone/>
              <a:defRPr sz="1444"/>
            </a:lvl4pPr>
            <a:lvl5pPr marL="2641519" indent="0">
              <a:buNone/>
              <a:defRPr sz="1444"/>
            </a:lvl5pPr>
            <a:lvl6pPr marL="3301898" indent="0">
              <a:buNone/>
              <a:defRPr sz="1444"/>
            </a:lvl6pPr>
            <a:lvl7pPr marL="3962278" indent="0">
              <a:buNone/>
              <a:defRPr sz="1444"/>
            </a:lvl7pPr>
            <a:lvl8pPr marL="4622658" indent="0">
              <a:buNone/>
              <a:defRPr sz="1444"/>
            </a:lvl8pPr>
            <a:lvl9pPr marL="5283037" indent="0">
              <a:buNone/>
              <a:defRPr sz="14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6ADA-F7BC-4032-BA78-973FF0E97CD0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9723C-51FB-49F2-8EA2-0547B0BBE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240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6ADA-F7BC-4032-BA78-973FF0E97CD0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9723C-51FB-49F2-8EA2-0547B0BBE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913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602255" y="527404"/>
            <a:ext cx="379718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0699" y="527404"/>
            <a:ext cx="11171432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E6ADA-F7BC-4032-BA78-973FF0E97CD0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9723C-51FB-49F2-8EA2-0547B0BBE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397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0699" y="527404"/>
            <a:ext cx="15188744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0699" y="2637014"/>
            <a:ext cx="15188744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0698" y="9181396"/>
            <a:ext cx="3962281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E6ADA-F7BC-4032-BA78-973FF0E97CD0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33360" y="9181396"/>
            <a:ext cx="5943422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37161" y="9181396"/>
            <a:ext cx="3962281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89723C-51FB-49F2-8EA2-0547B0BBE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320759" rtl="0" eaLnBrk="1" latinLnBrk="0" hangingPunct="1">
        <a:lnSpc>
          <a:spcPct val="90000"/>
        </a:lnSpc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190" indent="-330190" algn="l" defTabSz="1320759" rtl="0" eaLnBrk="1" latinLnBrk="0" hangingPunct="1">
        <a:lnSpc>
          <a:spcPct val="90000"/>
        </a:lnSpc>
        <a:spcBef>
          <a:spcPts val="1444"/>
        </a:spcBef>
        <a:buFont typeface="Arial" panose="020B0604020202020204" pitchFamily="34" charset="0"/>
        <a:buChar char="•"/>
        <a:defRPr sz="4044" kern="1200">
          <a:solidFill>
            <a:schemeClr val="tx1"/>
          </a:solidFill>
          <a:latin typeface="+mn-lt"/>
          <a:ea typeface="+mn-ea"/>
          <a:cs typeface="+mn-cs"/>
        </a:defRPr>
      </a:lvl1pPr>
      <a:lvl2pPr marL="990570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6C974-251C-DF1C-1DB8-7A86B5A08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6745" y="2307773"/>
            <a:ext cx="13206412" cy="4417332"/>
          </a:xfrm>
        </p:spPr>
        <p:txBody>
          <a:bodyPr>
            <a:noAutofit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     </a:t>
            </a:r>
            <a:r>
              <a:rPr lang="en-US" sz="9000" b="1" dirty="0"/>
              <a:t>“</a:t>
            </a:r>
            <a:r>
              <a:rPr lang="en-US" sz="9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TASTERS OF INDIA”</a:t>
            </a:r>
            <a:br>
              <a:rPr lang="en-US" sz="9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9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 NAME: </a:t>
            </a:r>
            <a:r>
              <a:rPr lang="en-US" sz="8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“YUM”</a:t>
            </a:r>
            <a:br>
              <a:rPr lang="en-US" sz="8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8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Subtitle 35">
            <a:extLst>
              <a:ext uri="{FF2B5EF4-FFF2-40B4-BE49-F238E27FC236}">
                <a16:creationId xmlns:a16="http://schemas.microsoft.com/office/drawing/2014/main" id="{D8B966D2-F9B5-6013-7081-49ED5B47A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15553" y="5856087"/>
            <a:ext cx="13207604" cy="2391656"/>
          </a:xfrm>
        </p:spPr>
        <p:txBody>
          <a:bodyPr/>
          <a:lstStyle/>
          <a:p>
            <a:r>
              <a:rPr lang="en-US" dirty="0"/>
              <a:t>CIEL Kingston </a:t>
            </a:r>
            <a:r>
              <a:rPr lang="en-US" dirty="0" err="1"/>
              <a:t>VibeAlthon</a:t>
            </a:r>
            <a:r>
              <a:rPr lang="en-US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1070690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937DB-A720-A3A7-A4F6-30347F093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6399443" cy="1553029"/>
          </a:xfrm>
        </p:spPr>
        <p:txBody>
          <a:bodyPr>
            <a:no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RECAP &amp; OBJECTIVE: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F69AD-8A36-8123-B54C-176DDDE69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53029"/>
            <a:ext cx="17610138" cy="83529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>
                <a:highlight>
                  <a:srgbClr val="FFFF00"/>
                </a:highlight>
              </a:rPr>
              <a:t>• Validated Problem Statement:</a:t>
            </a:r>
          </a:p>
          <a:p>
            <a:pPr marL="0" indent="0">
              <a:buNone/>
            </a:pPr>
            <a:r>
              <a:rPr lang="en-US" sz="3000" i="1" dirty="0">
                <a:latin typeface="Constantia" panose="02030602050306030303" pitchFamily="18" charset="0"/>
              </a:rPr>
              <a:t>Traditional Indian foods and their cultural stories are disappearing in the modern world. People, especially the younger generation, are unaware of their regional food heritage.</a:t>
            </a:r>
          </a:p>
          <a:p>
            <a:pPr marL="0" indent="0">
              <a:buNone/>
            </a:pPr>
            <a:r>
              <a:rPr lang="en-US" sz="4000" b="1" dirty="0">
                <a:highlight>
                  <a:srgbClr val="FFFF00"/>
                </a:highlight>
              </a:rPr>
              <a:t>• Key User Main Point:</a:t>
            </a:r>
          </a:p>
          <a:p>
            <a:pPr marL="0" indent="0">
              <a:buNone/>
            </a:pPr>
            <a:r>
              <a:rPr lang="en-US" sz="3000" i="1" dirty="0">
                <a:latin typeface="Constantia" panose="02030602050306030303" pitchFamily="18" charset="0"/>
              </a:rPr>
              <a:t>Users struggle to find authentic traditional recipes and their true origins in one reliable platform.</a:t>
            </a:r>
          </a:p>
          <a:p>
            <a:pPr marL="0" indent="0">
              <a:buNone/>
            </a:pPr>
            <a:r>
              <a:rPr lang="en-US" sz="4000" b="1" dirty="0">
                <a:highlight>
                  <a:srgbClr val="FFFF00"/>
                </a:highlight>
              </a:rPr>
              <a:t>• Objective of the Prototype:</a:t>
            </a:r>
          </a:p>
          <a:p>
            <a:pPr marL="0" indent="0">
              <a:buNone/>
            </a:pPr>
            <a:r>
              <a:rPr lang="en-US" sz="3000" i="1" dirty="0">
                <a:latin typeface="Constantia" panose="02030602050306030303" pitchFamily="18" charset="0"/>
              </a:rPr>
              <a:t>To create an interactive app — Tasters of India — that showcases traditional dishes from every Indian state with recipes, stories, and maps.</a:t>
            </a:r>
          </a:p>
          <a:p>
            <a:pPr marL="0" indent="0">
              <a:buNone/>
            </a:pPr>
            <a:r>
              <a:rPr lang="en-US" sz="4000" b="1" dirty="0">
                <a:highlight>
                  <a:srgbClr val="FFFF00"/>
                </a:highlight>
              </a:rPr>
              <a:t>• Expected Outcomes / Success </a:t>
            </a:r>
            <a:r>
              <a:rPr lang="en-US" sz="4000" b="1" dirty="0" err="1">
                <a:highlight>
                  <a:srgbClr val="FFFF00"/>
                </a:highlight>
              </a:rPr>
              <a:t>Matrics</a:t>
            </a:r>
            <a:r>
              <a:rPr lang="en-US" sz="4000" b="1" dirty="0">
                <a:highlight>
                  <a:srgbClr val="FFFF00"/>
                </a:highlight>
              </a:rPr>
              <a:t>:</a:t>
            </a:r>
          </a:p>
          <a:p>
            <a:r>
              <a:rPr lang="en-US" sz="3000" i="1" dirty="0">
                <a:latin typeface="Constantia" panose="02030602050306030303" pitchFamily="18" charset="0"/>
              </a:rPr>
              <a:t>Users discover and learn about India’s heritage foods.</a:t>
            </a:r>
          </a:p>
          <a:p>
            <a:r>
              <a:rPr lang="en-US" sz="3000" i="1" dirty="0">
                <a:latin typeface="Constantia" panose="02030602050306030303" pitchFamily="18" charset="0"/>
              </a:rPr>
              <a:t>More engagement and awareness of local cuisines.</a:t>
            </a:r>
          </a:p>
          <a:p>
            <a:r>
              <a:rPr lang="en-US" sz="3000" i="1" dirty="0">
                <a:latin typeface="Constantia" panose="02030602050306030303" pitchFamily="18" charset="0"/>
              </a:rPr>
              <a:t>Increased appreciation and preservation of regional food culture.</a:t>
            </a:r>
          </a:p>
        </p:txBody>
      </p:sp>
    </p:spTree>
    <p:extLst>
      <p:ext uri="{BB962C8B-B14F-4D97-AF65-F5344CB8AC3E}">
        <p14:creationId xmlns:p14="http://schemas.microsoft.com/office/powerpoint/2010/main" val="2292896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BAE69-E37D-8E87-D4EA-19247B28D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6399443" cy="1146629"/>
          </a:xfrm>
        </p:spPr>
        <p:txBody>
          <a:bodyPr>
            <a:norm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PROTOTYPE 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25655-A162-299F-F5CC-1099D9E38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6000"/>
            <a:ext cx="17610138" cy="8890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4300" b="1" dirty="0">
                <a:highlight>
                  <a:srgbClr val="FFFF00"/>
                </a:highlight>
              </a:rPr>
              <a:t>• Description:</a:t>
            </a:r>
          </a:p>
          <a:p>
            <a:r>
              <a:rPr lang="en-US" sz="3700" i="1" dirty="0">
                <a:latin typeface="Constantia" panose="02030602050306030303" pitchFamily="18" charset="0"/>
              </a:rPr>
              <a:t>Tasters of India is an interactive mobile app that showcases traditional dishes from every Indian state.</a:t>
            </a:r>
          </a:p>
          <a:p>
            <a:r>
              <a:rPr lang="en-US" sz="3700" i="1" dirty="0">
                <a:latin typeface="Constantia" panose="02030602050306030303" pitchFamily="18" charset="0"/>
              </a:rPr>
              <a:t>It includes recipes, origins, cultural stories, and a map showing where each dish is most popular.</a:t>
            </a:r>
          </a:p>
          <a:p>
            <a:r>
              <a:rPr lang="en-US" sz="3700" i="1" dirty="0">
                <a:latin typeface="Constantia" panose="02030602050306030303" pitchFamily="18" charset="0"/>
              </a:rPr>
              <a:t>Users can rate dishes, comment, and even add how they made them.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• </a:t>
            </a:r>
            <a:r>
              <a:rPr lang="en-US" sz="4300" b="1" dirty="0">
                <a:highlight>
                  <a:srgbClr val="FFFF00"/>
                </a:highlight>
              </a:rPr>
              <a:t>Technology Stack / Tools Used:</a:t>
            </a:r>
          </a:p>
          <a:p>
            <a:r>
              <a:rPr lang="en-US" sz="3700" i="1" dirty="0">
                <a:latin typeface="Constantia" panose="02030602050306030303" pitchFamily="18" charset="0"/>
              </a:rPr>
              <a:t>Design: Figma / Canva (for UI &amp; prototype design)</a:t>
            </a:r>
          </a:p>
          <a:p>
            <a:r>
              <a:rPr lang="en-US" sz="3700" i="1" dirty="0">
                <a:latin typeface="Constantia" panose="02030602050306030303" pitchFamily="18" charset="0"/>
              </a:rPr>
              <a:t>Frontend (planned): React Native</a:t>
            </a:r>
          </a:p>
          <a:p>
            <a:r>
              <a:rPr lang="en-US" sz="3700" i="1" dirty="0">
                <a:latin typeface="Constantia" panose="02030602050306030303" pitchFamily="18" charset="0"/>
              </a:rPr>
              <a:t>Backend (planned): Firebase / Node.js</a:t>
            </a:r>
          </a:p>
          <a:p>
            <a:r>
              <a:rPr lang="en-US" sz="3700" i="1" dirty="0">
                <a:latin typeface="Constantia" panose="02030602050306030303" pitchFamily="18" charset="0"/>
              </a:rPr>
              <a:t>Database: </a:t>
            </a:r>
            <a:r>
              <a:rPr lang="en-US" sz="3700" i="1" dirty="0" err="1">
                <a:latin typeface="Constantia" panose="02030602050306030303" pitchFamily="18" charset="0"/>
              </a:rPr>
              <a:t>Firestore</a:t>
            </a:r>
            <a:r>
              <a:rPr lang="en-US" sz="3700" i="1" dirty="0">
                <a:latin typeface="Constantia" panose="02030602050306030303" pitchFamily="18" charset="0"/>
              </a:rPr>
              <a:t> / MongoDB</a:t>
            </a:r>
          </a:p>
          <a:p>
            <a:r>
              <a:rPr lang="en-US" sz="3700" i="1" dirty="0">
                <a:latin typeface="Constantia" panose="02030602050306030303" pitchFamily="18" charset="0"/>
              </a:rPr>
              <a:t>Map Integration: Google Maps API</a:t>
            </a:r>
          </a:p>
          <a:p>
            <a:pPr marL="0" indent="0">
              <a:buNone/>
            </a:pPr>
            <a:r>
              <a:rPr lang="en-US" sz="4300" b="1" dirty="0">
                <a:highlight>
                  <a:srgbClr val="FFFF00"/>
                </a:highlight>
              </a:rPr>
              <a:t>• Prototype Type:</a:t>
            </a:r>
          </a:p>
          <a:p>
            <a:r>
              <a:rPr lang="en-US" sz="3700" i="1" dirty="0">
                <a:latin typeface="Constantia" panose="02030602050306030303" pitchFamily="18" charset="0"/>
              </a:rPr>
              <a:t>Currently clickable and conceptual — demonstrates all main features and app flow.</a:t>
            </a:r>
          </a:p>
          <a:p>
            <a:pPr marL="0" indent="0">
              <a:buNone/>
            </a:pPr>
            <a:r>
              <a:rPr lang="en-US" sz="4300" b="1" dirty="0">
                <a:highlight>
                  <a:srgbClr val="FFFF00"/>
                </a:highlight>
              </a:rPr>
              <a:t>• Visuals / Screenshots:</a:t>
            </a:r>
          </a:p>
          <a:p>
            <a:r>
              <a:rPr lang="en-US" sz="3700" i="1" dirty="0"/>
              <a:t>Include images of:</a:t>
            </a:r>
          </a:p>
          <a:p>
            <a:r>
              <a:rPr lang="en-US" sz="3700" i="1" dirty="0"/>
              <a:t>Login &amp; Sign-Up Page</a:t>
            </a:r>
          </a:p>
          <a:p>
            <a:r>
              <a:rPr lang="en-US" sz="3700" i="1" dirty="0"/>
              <a:t>Home Screen with Food Map</a:t>
            </a:r>
          </a:p>
          <a:p>
            <a:r>
              <a:rPr lang="en-US" sz="3700" i="1" dirty="0"/>
              <a:t>Dish Details Page (recipe + story)</a:t>
            </a:r>
          </a:p>
          <a:p>
            <a:r>
              <a:rPr lang="en-US" sz="3700" i="1" dirty="0"/>
              <a:t>Rating &amp; Comment Screen</a:t>
            </a:r>
          </a:p>
        </p:txBody>
      </p:sp>
    </p:spTree>
    <p:extLst>
      <p:ext uri="{BB962C8B-B14F-4D97-AF65-F5344CB8AC3E}">
        <p14:creationId xmlns:p14="http://schemas.microsoft.com/office/powerpoint/2010/main" val="4005391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9981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Grid">
          <a:fgClr>
            <a:schemeClr val="accent2">
              <a:lumMod val="40000"/>
              <a:lumOff val="6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E7A2D-9A80-3A93-08F8-A76246A81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6399443" cy="983720"/>
          </a:xfrm>
        </p:spPr>
        <p:txBody>
          <a:bodyPr>
            <a:norm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INTERFACE &amp; EXPERIENCE: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45475-3BE0-0F37-89C9-1A16E858C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83720"/>
            <a:ext cx="17610138" cy="892228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4500" b="1" dirty="0">
                <a:highlight>
                  <a:srgbClr val="FFFF00"/>
                </a:highlight>
              </a:rPr>
              <a:t>User Journey (Visual Flow)</a:t>
            </a:r>
          </a:p>
          <a:p>
            <a:r>
              <a:rPr lang="en-US" sz="3600" i="1" dirty="0">
                <a:latin typeface="Constantia" panose="02030602050306030303" pitchFamily="18" charset="0"/>
              </a:rPr>
              <a:t>Open App → Sign Up / Log In → Browse Dishes → Explore Recipe &amp; Location → Rate &amp; Comment → Unlock More Recipes</a:t>
            </a:r>
          </a:p>
          <a:p>
            <a:r>
              <a:rPr lang="en-US" sz="3600" i="1" dirty="0">
                <a:latin typeface="Constantia" panose="02030602050306030303" pitchFamily="18" charset="0"/>
              </a:rPr>
              <a:t>(Use arrows or a simple flow diagram)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2️⃣ Key Features / Interactions</a:t>
            </a:r>
          </a:p>
          <a:p>
            <a:r>
              <a:rPr lang="en-US" sz="3700" i="1" dirty="0">
                <a:latin typeface="Constantia" panose="02030602050306030303" pitchFamily="18" charset="0"/>
              </a:rPr>
              <a:t>Interactive India map with dish highlights</a:t>
            </a:r>
          </a:p>
          <a:p>
            <a:r>
              <a:rPr lang="en-US" sz="3700" i="1" dirty="0">
                <a:latin typeface="Constantia" panose="02030602050306030303" pitchFamily="18" charset="0"/>
              </a:rPr>
              <a:t>Swipe gestures: Left = Exit | Right = Home</a:t>
            </a:r>
          </a:p>
          <a:p>
            <a:r>
              <a:rPr lang="en-US" sz="3700" i="1" dirty="0">
                <a:latin typeface="Constantia" panose="02030602050306030303" pitchFamily="18" charset="0"/>
              </a:rPr>
              <a:t>Profile customization &amp; ratings/comments</a:t>
            </a:r>
          </a:p>
          <a:p>
            <a:r>
              <a:rPr lang="en-US" sz="3700" i="1" dirty="0">
                <a:latin typeface="Constantia" panose="02030602050306030303" pitchFamily="18" charset="0"/>
              </a:rPr>
              <a:t>Real-time updates for recipes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3️⃣ Unique &amp; Innovative</a:t>
            </a:r>
          </a:p>
          <a:p>
            <a:r>
              <a:rPr lang="en-US" sz="3700" i="1" dirty="0">
                <a:latin typeface="Constantia" panose="02030602050306030303" pitchFamily="18" charset="0"/>
              </a:rPr>
              <a:t>Combines heritage food + location discovery</a:t>
            </a:r>
          </a:p>
          <a:p>
            <a:r>
              <a:rPr lang="en-US" sz="3700" i="1" dirty="0">
                <a:latin typeface="Constantia" panose="02030602050306030303" pitchFamily="18" charset="0"/>
              </a:rPr>
              <a:t>Vintage UI reflecting culture</a:t>
            </a:r>
          </a:p>
          <a:p>
            <a:r>
              <a:rPr lang="en-US" sz="3700" i="1" dirty="0">
                <a:latin typeface="Constantia" panose="02030602050306030303" pitchFamily="18" charset="0"/>
              </a:rPr>
              <a:t>Promotes regional, lesser-known cuisines</a:t>
            </a:r>
          </a:p>
          <a:p>
            <a:r>
              <a:rPr lang="en-US" sz="3700" i="1" dirty="0">
                <a:latin typeface="Constantia" panose="02030602050306030303" pitchFamily="18" charset="0"/>
              </a:rPr>
              <a:t>Builds community interaction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4️⃣ Next Steps / Scaling</a:t>
            </a:r>
          </a:p>
          <a:p>
            <a:r>
              <a:rPr lang="en-US" sz="3700" i="1" dirty="0">
                <a:latin typeface="Constantia" panose="02030602050306030303" pitchFamily="18" charset="0"/>
              </a:rPr>
              <a:t>Add more dishes &amp; states → full India coverage</a:t>
            </a:r>
          </a:p>
          <a:p>
            <a:r>
              <a:rPr lang="en-US" sz="3700" i="1" dirty="0">
                <a:latin typeface="Constantia" panose="02030602050306030303" pitchFamily="18" charset="0"/>
              </a:rPr>
              <a:t>Introduce AR/VR tutorials</a:t>
            </a:r>
          </a:p>
          <a:p>
            <a:r>
              <a:rPr lang="en-US" sz="3700" i="1" dirty="0">
                <a:latin typeface="Constantia" panose="02030602050306030303" pitchFamily="18" charset="0"/>
              </a:rPr>
              <a:t>Partner with restaurants &amp; food festivals</a:t>
            </a:r>
          </a:p>
          <a:p>
            <a:r>
              <a:rPr lang="en-US" sz="3700" i="1" dirty="0">
                <a:latin typeface="Constantia" panose="02030602050306030303" pitchFamily="18" charset="0"/>
              </a:rPr>
              <a:t>Add AI-based recipe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962170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0578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80">
          <a:fgClr>
            <a:schemeClr val="tx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0E9F86-63D8-FA03-EA71-36D4358FEC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4359" y="0"/>
            <a:ext cx="660142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487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phere">
          <a:fgClr>
            <a:schemeClr val="tx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072D36-E393-FCD1-3BB9-FF6854FF0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4359" y="0"/>
            <a:ext cx="660142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684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509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253</TotalTime>
  <Words>423</Words>
  <Application>Microsoft Office PowerPoint</Application>
  <PresentationFormat>Custom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Constantia</vt:lpstr>
      <vt:lpstr>Office Theme</vt:lpstr>
      <vt:lpstr>       “TASTERS OF INDIA”       TEAM NAME: “YUM” </vt:lpstr>
      <vt:lpstr>PROBLEM RECAP &amp; OBJECTIVE:</vt:lpstr>
      <vt:lpstr>PROTOTYPE OVERVIEW:</vt:lpstr>
      <vt:lpstr>PowerPoint Presentation</vt:lpstr>
      <vt:lpstr>USER INTERFACE &amp; EXPERIENCE: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</cp:revision>
  <dcterms:created xsi:type="dcterms:W3CDTF">2025-10-18T05:50:59Z</dcterms:created>
  <dcterms:modified xsi:type="dcterms:W3CDTF">2025-10-18T10:21:55Z</dcterms:modified>
</cp:coreProperties>
</file>